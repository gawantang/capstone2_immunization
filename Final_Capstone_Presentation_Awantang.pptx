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1" r:id="rId1"/>
  </p:sldMasterIdLst>
  <p:notesMasterIdLst>
    <p:notesMasterId r:id="rId26"/>
  </p:notesMasterIdLst>
  <p:sldIdLst>
    <p:sldId id="256" r:id="rId2"/>
    <p:sldId id="258" r:id="rId3"/>
    <p:sldId id="259" r:id="rId4"/>
    <p:sldId id="260" r:id="rId5"/>
    <p:sldId id="257" r:id="rId6"/>
    <p:sldId id="261" r:id="rId7"/>
    <p:sldId id="271" r:id="rId8"/>
    <p:sldId id="272" r:id="rId9"/>
    <p:sldId id="263" r:id="rId10"/>
    <p:sldId id="267" r:id="rId11"/>
    <p:sldId id="265" r:id="rId12"/>
    <p:sldId id="264" r:id="rId13"/>
    <p:sldId id="268" r:id="rId14"/>
    <p:sldId id="269" r:id="rId15"/>
    <p:sldId id="262" r:id="rId16"/>
    <p:sldId id="274" r:id="rId17"/>
    <p:sldId id="270" r:id="rId18"/>
    <p:sldId id="273" r:id="rId19"/>
    <p:sldId id="275" r:id="rId20"/>
    <p:sldId id="276" r:id="rId21"/>
    <p:sldId id="277" r:id="rId22"/>
    <p:sldId id="279" r:id="rId23"/>
    <p:sldId id="280"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96"/>
    <p:restoredTop sz="85510"/>
  </p:normalViewPr>
  <p:slideViewPr>
    <p:cSldViewPr snapToGrid="0">
      <p:cViewPr varScale="1">
        <p:scale>
          <a:sx n="78" d="100"/>
          <a:sy n="78" d="100"/>
        </p:scale>
        <p:origin x="184" y="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4BDBFF-A220-AA4D-87E9-1E66F615C175}" type="datetimeFigureOut">
              <a:rPr lang="en-US" smtClean="0"/>
              <a:t>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E2EB51-506D-1E49-AE8E-3487E88DA70D}" type="slidenum">
              <a:rPr lang="en-US" smtClean="0"/>
              <a:t>‹#›</a:t>
            </a:fld>
            <a:endParaRPr lang="en-US"/>
          </a:p>
        </p:txBody>
      </p:sp>
    </p:spTree>
    <p:extLst>
      <p:ext uri="{BB962C8B-B14F-4D97-AF65-F5344CB8AC3E}">
        <p14:creationId xmlns:p14="http://schemas.microsoft.com/office/powerpoint/2010/main" val="3662606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0BB5F-3D35-A0CD-30A2-7A7020476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8BF2D-6807-C572-DBA6-295529349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38F36-00B5-A22F-C3E8-9C3F2DFB48B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Measles symptoms start with cold-like signs (cough, runny nose, red/watery eyes, fever) followed by tiny white spots in the mouth, then a flat red rash appearing on the face and spreading down the body. This highly contagious illness can lead to severe complications like pneumonia or brain swelling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disease is especially dangerous for babies and young children.</a:t>
            </a:r>
            <a:endParaRPr lang="en-US" dirty="0"/>
          </a:p>
        </p:txBody>
      </p:sp>
      <p:sp>
        <p:nvSpPr>
          <p:cNvPr id="4" name="Slide Number Placeholder 3">
            <a:extLst>
              <a:ext uri="{FF2B5EF4-FFF2-40B4-BE49-F238E27FC236}">
                <a16:creationId xmlns:a16="http://schemas.microsoft.com/office/drawing/2014/main" id="{859FC255-089F-7774-91F7-123A2841C6D9}"/>
              </a:ext>
            </a:extLst>
          </p:cNvPr>
          <p:cNvSpPr>
            <a:spLocks noGrp="1"/>
          </p:cNvSpPr>
          <p:nvPr>
            <p:ph type="sldNum" sz="quarter" idx="5"/>
          </p:nvPr>
        </p:nvSpPr>
        <p:spPr/>
        <p:txBody>
          <a:bodyPr/>
          <a:lstStyle/>
          <a:p>
            <a:fld id="{F4E2EB51-506D-1E49-AE8E-3487E88DA70D}" type="slidenum">
              <a:rPr lang="en-US" smtClean="0"/>
              <a:t>2</a:t>
            </a:fld>
            <a:endParaRPr lang="en-US"/>
          </a:p>
        </p:txBody>
      </p:sp>
    </p:spTree>
    <p:extLst>
      <p:ext uri="{BB962C8B-B14F-4D97-AF65-F5344CB8AC3E}">
        <p14:creationId xmlns:p14="http://schemas.microsoft.com/office/powerpoint/2010/main" val="2257208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BD513-6A5D-07B5-C629-08C087EEB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AE94B-EBB0-1160-62C7-0573451AA3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9829D7-500F-6214-23C5-428AB8CB3A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4EAEFE-A303-BDCC-D0B4-8B54ED1506B1}"/>
              </a:ext>
            </a:extLst>
          </p:cNvPr>
          <p:cNvSpPr>
            <a:spLocks noGrp="1"/>
          </p:cNvSpPr>
          <p:nvPr>
            <p:ph type="sldNum" sz="quarter" idx="5"/>
          </p:nvPr>
        </p:nvSpPr>
        <p:spPr/>
        <p:txBody>
          <a:bodyPr/>
          <a:lstStyle/>
          <a:p>
            <a:fld id="{F4E2EB51-506D-1E49-AE8E-3487E88DA70D}" type="slidenum">
              <a:rPr lang="en-US" smtClean="0"/>
              <a:t>3</a:t>
            </a:fld>
            <a:endParaRPr lang="en-US"/>
          </a:p>
        </p:txBody>
      </p:sp>
    </p:spTree>
    <p:extLst>
      <p:ext uri="{BB962C8B-B14F-4D97-AF65-F5344CB8AC3E}">
        <p14:creationId xmlns:p14="http://schemas.microsoft.com/office/powerpoint/2010/main" val="285651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884CB-908F-E51B-001A-6DCACD1C8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135F3-A63B-4304-0227-B6C588F8D6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1455F-9374-B59A-F459-769FDF223A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B555D1-9AFD-A244-2D09-7377EF526A5C}"/>
              </a:ext>
            </a:extLst>
          </p:cNvPr>
          <p:cNvSpPr>
            <a:spLocks noGrp="1"/>
          </p:cNvSpPr>
          <p:nvPr>
            <p:ph type="sldNum" sz="quarter" idx="5"/>
          </p:nvPr>
        </p:nvSpPr>
        <p:spPr/>
        <p:txBody>
          <a:bodyPr/>
          <a:lstStyle/>
          <a:p>
            <a:fld id="{F4E2EB51-506D-1E49-AE8E-3487E88DA70D}" type="slidenum">
              <a:rPr lang="en-US" smtClean="0"/>
              <a:t>4</a:t>
            </a:fld>
            <a:endParaRPr lang="en-US"/>
          </a:p>
        </p:txBody>
      </p:sp>
    </p:spTree>
    <p:extLst>
      <p:ext uri="{BB962C8B-B14F-4D97-AF65-F5344CB8AC3E}">
        <p14:creationId xmlns:p14="http://schemas.microsoft.com/office/powerpoint/2010/main" val="845180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measles-mumps-rubella (MMR)</a:t>
            </a:r>
          </a:p>
          <a:p>
            <a:r>
              <a:rPr lang="en-US" dirty="0" err="1"/>
              <a:t>Diptheria</a:t>
            </a:r>
            <a:r>
              <a:rPr lang="en-US" dirty="0"/>
              <a:t>, tetanus, and </a:t>
            </a:r>
            <a:r>
              <a:rPr lang="en-US" dirty="0" err="1"/>
              <a:t>accelular</a:t>
            </a:r>
            <a:r>
              <a:rPr lang="en-US" dirty="0"/>
              <a:t> pertussis vaccine</a:t>
            </a:r>
          </a:p>
        </p:txBody>
      </p:sp>
      <p:sp>
        <p:nvSpPr>
          <p:cNvPr id="4" name="Slide Number Placeholder 3"/>
          <p:cNvSpPr>
            <a:spLocks noGrp="1"/>
          </p:cNvSpPr>
          <p:nvPr>
            <p:ph type="sldNum" sz="quarter" idx="5"/>
          </p:nvPr>
        </p:nvSpPr>
        <p:spPr/>
        <p:txBody>
          <a:bodyPr/>
          <a:lstStyle/>
          <a:p>
            <a:fld id="{F4E2EB51-506D-1E49-AE8E-3487E88DA70D}" type="slidenum">
              <a:rPr lang="en-US" smtClean="0"/>
              <a:t>5</a:t>
            </a:fld>
            <a:endParaRPr lang="en-US"/>
          </a:p>
        </p:txBody>
      </p:sp>
    </p:spTree>
    <p:extLst>
      <p:ext uri="{BB962C8B-B14F-4D97-AF65-F5344CB8AC3E}">
        <p14:creationId xmlns:p14="http://schemas.microsoft.com/office/powerpoint/2010/main" val="196522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CVAC index reflects a county’s ability to handle a COVID-19 outbreak and is based on a community's access to health care, affordable housing, transportation, childcare, or safe and secure employment. CVAC Index values range from 0 (least vulnerable) to 1 (most vulnerable)</a:t>
            </a:r>
            <a:endParaRPr lang="en-US" dirty="0"/>
          </a:p>
        </p:txBody>
      </p:sp>
      <p:sp>
        <p:nvSpPr>
          <p:cNvPr id="4" name="Slide Number Placeholder 3"/>
          <p:cNvSpPr>
            <a:spLocks noGrp="1"/>
          </p:cNvSpPr>
          <p:nvPr>
            <p:ph type="sldNum" sz="quarter" idx="5"/>
          </p:nvPr>
        </p:nvSpPr>
        <p:spPr/>
        <p:txBody>
          <a:bodyPr/>
          <a:lstStyle/>
          <a:p>
            <a:fld id="{F4E2EB51-506D-1E49-AE8E-3487E88DA70D}" type="slidenum">
              <a:rPr lang="en-US" smtClean="0"/>
              <a:t>7</a:t>
            </a:fld>
            <a:endParaRPr lang="en-US"/>
          </a:p>
        </p:txBody>
      </p:sp>
    </p:spTree>
    <p:extLst>
      <p:ext uri="{BB962C8B-B14F-4D97-AF65-F5344CB8AC3E}">
        <p14:creationId xmlns:p14="http://schemas.microsoft.com/office/powerpoint/2010/main" val="3783072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F51C8-2474-A302-2DB2-6BA2CE253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1B8B6-0218-6DDD-E5BA-072A0B627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A77B5-7820-3344-FE25-1B67F79AE4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97A6DA-B04D-EFED-4F8C-2A1007C12A29}"/>
              </a:ext>
            </a:extLst>
          </p:cNvPr>
          <p:cNvSpPr>
            <a:spLocks noGrp="1"/>
          </p:cNvSpPr>
          <p:nvPr>
            <p:ph type="sldNum" sz="quarter" idx="5"/>
          </p:nvPr>
        </p:nvSpPr>
        <p:spPr/>
        <p:txBody>
          <a:bodyPr/>
          <a:lstStyle/>
          <a:p>
            <a:fld id="{F4E2EB51-506D-1E49-AE8E-3487E88DA70D}" type="slidenum">
              <a:rPr lang="en-US" smtClean="0"/>
              <a:t>8</a:t>
            </a:fld>
            <a:endParaRPr lang="en-US"/>
          </a:p>
        </p:txBody>
      </p:sp>
    </p:spTree>
    <p:extLst>
      <p:ext uri="{BB962C8B-B14F-4D97-AF65-F5344CB8AC3E}">
        <p14:creationId xmlns:p14="http://schemas.microsoft.com/office/powerpoint/2010/main" val="307382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CSV files were downloaded from respective websites for 254 counties and for four years (2020 through 2023). </a:t>
            </a:r>
          </a:p>
        </p:txBody>
      </p:sp>
      <p:sp>
        <p:nvSpPr>
          <p:cNvPr id="4" name="Slide Number Placeholder 3"/>
          <p:cNvSpPr>
            <a:spLocks noGrp="1"/>
          </p:cNvSpPr>
          <p:nvPr>
            <p:ph type="sldNum" sz="quarter" idx="5"/>
          </p:nvPr>
        </p:nvSpPr>
        <p:spPr/>
        <p:txBody>
          <a:bodyPr/>
          <a:lstStyle/>
          <a:p>
            <a:fld id="{F4E2EB51-506D-1E49-AE8E-3487E88DA70D}" type="slidenum">
              <a:rPr lang="en-US" smtClean="0"/>
              <a:t>9</a:t>
            </a:fld>
            <a:endParaRPr lang="en-US"/>
          </a:p>
        </p:txBody>
      </p:sp>
    </p:spTree>
    <p:extLst>
      <p:ext uri="{BB962C8B-B14F-4D97-AF65-F5344CB8AC3E}">
        <p14:creationId xmlns:p14="http://schemas.microsoft.com/office/powerpoint/2010/main" val="2102476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74C76-C476-F883-732E-FFA56A646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0CC6F-773B-9E2F-3FEF-76DF09834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E4C43F-189C-47A8-91C5-EB68C85407FD}"/>
              </a:ext>
            </a:extLst>
          </p:cNvPr>
          <p:cNvSpPr>
            <a:spLocks noGrp="1"/>
          </p:cNvSpPr>
          <p:nvPr>
            <p:ph type="body" idx="1"/>
          </p:nvPr>
        </p:nvSpPr>
        <p:spPr/>
        <p:txBody>
          <a:bodyPr/>
          <a:lstStyle/>
          <a:p>
            <a:r>
              <a:rPr lang="en-US" dirty="0"/>
              <a:t>CSV files were downloaded from respective websites for 254 counties and for four years (2020 through 2023). </a:t>
            </a:r>
          </a:p>
        </p:txBody>
      </p:sp>
      <p:sp>
        <p:nvSpPr>
          <p:cNvPr id="4" name="Slide Number Placeholder 3">
            <a:extLst>
              <a:ext uri="{FF2B5EF4-FFF2-40B4-BE49-F238E27FC236}">
                <a16:creationId xmlns:a16="http://schemas.microsoft.com/office/drawing/2014/main" id="{6A647A80-0D5D-3CA7-B8F2-ADBE570BF86E}"/>
              </a:ext>
            </a:extLst>
          </p:cNvPr>
          <p:cNvSpPr>
            <a:spLocks noGrp="1"/>
          </p:cNvSpPr>
          <p:nvPr>
            <p:ph type="sldNum" sz="quarter" idx="5"/>
          </p:nvPr>
        </p:nvSpPr>
        <p:spPr/>
        <p:txBody>
          <a:bodyPr/>
          <a:lstStyle/>
          <a:p>
            <a:fld id="{F4E2EB51-506D-1E49-AE8E-3487E88DA70D}" type="slidenum">
              <a:rPr lang="en-US" smtClean="0"/>
              <a:t>10</a:t>
            </a:fld>
            <a:endParaRPr lang="en-US"/>
          </a:p>
        </p:txBody>
      </p:sp>
    </p:spTree>
    <p:extLst>
      <p:ext uri="{BB962C8B-B14F-4D97-AF65-F5344CB8AC3E}">
        <p14:creationId xmlns:p14="http://schemas.microsoft.com/office/powerpoint/2010/main" val="512417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17214-6216-5CAD-CEE9-051ED512A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8EBCF-2C57-B270-6D0A-30621A75B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02962-EF35-9A8C-0EAF-C47686DA8C0F}"/>
              </a:ext>
            </a:extLst>
          </p:cNvPr>
          <p:cNvSpPr>
            <a:spLocks noGrp="1"/>
          </p:cNvSpPr>
          <p:nvPr>
            <p:ph type="body" idx="1"/>
          </p:nvPr>
        </p:nvSpPr>
        <p:spPr/>
        <p:txBody>
          <a:bodyPr/>
          <a:lstStyle/>
          <a:p>
            <a:r>
              <a:rPr lang="en-US" dirty="0"/>
              <a:t>CSV files were downloaded from respective websites for 254 counties and for four years (2020 through 2023). </a:t>
            </a:r>
          </a:p>
        </p:txBody>
      </p:sp>
      <p:sp>
        <p:nvSpPr>
          <p:cNvPr id="4" name="Slide Number Placeholder 3">
            <a:extLst>
              <a:ext uri="{FF2B5EF4-FFF2-40B4-BE49-F238E27FC236}">
                <a16:creationId xmlns:a16="http://schemas.microsoft.com/office/drawing/2014/main" id="{A1406EED-E261-BB20-8881-324E589FC4E3}"/>
              </a:ext>
            </a:extLst>
          </p:cNvPr>
          <p:cNvSpPr>
            <a:spLocks noGrp="1"/>
          </p:cNvSpPr>
          <p:nvPr>
            <p:ph type="sldNum" sz="quarter" idx="5"/>
          </p:nvPr>
        </p:nvSpPr>
        <p:spPr/>
        <p:txBody>
          <a:bodyPr/>
          <a:lstStyle/>
          <a:p>
            <a:fld id="{F4E2EB51-506D-1E49-AE8E-3487E88DA70D}" type="slidenum">
              <a:rPr lang="en-US" smtClean="0"/>
              <a:t>11</a:t>
            </a:fld>
            <a:endParaRPr lang="en-US"/>
          </a:p>
        </p:txBody>
      </p:sp>
    </p:spTree>
    <p:extLst>
      <p:ext uri="{BB962C8B-B14F-4D97-AF65-F5344CB8AC3E}">
        <p14:creationId xmlns:p14="http://schemas.microsoft.com/office/powerpoint/2010/main" val="738517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52586-7FCC-D330-E2D6-16333A802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E2A12-63E3-A131-1260-7DD05E470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99177-8680-7165-A8A8-3E34A08FFEA5}"/>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Eight variables were missing 25% or more of their values including: infant mortality rate, % low birthweight, % less &lt;18 yrs of age, % broadband access, % rural, % Female</a:t>
            </a:r>
            <a:endParaRPr lang="en-US" dirty="0"/>
          </a:p>
        </p:txBody>
      </p:sp>
      <p:sp>
        <p:nvSpPr>
          <p:cNvPr id="4" name="Slide Number Placeholder 3">
            <a:extLst>
              <a:ext uri="{FF2B5EF4-FFF2-40B4-BE49-F238E27FC236}">
                <a16:creationId xmlns:a16="http://schemas.microsoft.com/office/drawing/2014/main" id="{937563AF-903D-2C2F-4C9B-715FF049623E}"/>
              </a:ext>
            </a:extLst>
          </p:cNvPr>
          <p:cNvSpPr>
            <a:spLocks noGrp="1"/>
          </p:cNvSpPr>
          <p:nvPr>
            <p:ph type="sldNum" sz="quarter" idx="5"/>
          </p:nvPr>
        </p:nvSpPr>
        <p:spPr/>
        <p:txBody>
          <a:bodyPr/>
          <a:lstStyle/>
          <a:p>
            <a:fld id="{F4E2EB51-506D-1E49-AE8E-3487E88DA70D}" type="slidenum">
              <a:rPr lang="en-US" smtClean="0"/>
              <a:t>12</a:t>
            </a:fld>
            <a:endParaRPr lang="en-US"/>
          </a:p>
        </p:txBody>
      </p:sp>
    </p:spTree>
    <p:extLst>
      <p:ext uri="{BB962C8B-B14F-4D97-AF65-F5344CB8AC3E}">
        <p14:creationId xmlns:p14="http://schemas.microsoft.com/office/powerpoint/2010/main" val="3336084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values for each column are highlighted in blue</a:t>
            </a:r>
          </a:p>
        </p:txBody>
      </p:sp>
      <p:sp>
        <p:nvSpPr>
          <p:cNvPr id="4" name="Slide Number Placeholder 3"/>
          <p:cNvSpPr>
            <a:spLocks noGrp="1"/>
          </p:cNvSpPr>
          <p:nvPr>
            <p:ph type="sldNum" sz="quarter" idx="5"/>
          </p:nvPr>
        </p:nvSpPr>
        <p:spPr/>
        <p:txBody>
          <a:bodyPr/>
          <a:lstStyle/>
          <a:p>
            <a:fld id="{F4E2EB51-506D-1E49-AE8E-3487E88DA70D}" type="slidenum">
              <a:rPr lang="en-US" smtClean="0"/>
              <a:t>15</a:t>
            </a:fld>
            <a:endParaRPr lang="en-US"/>
          </a:p>
        </p:txBody>
      </p:sp>
    </p:spTree>
    <p:extLst>
      <p:ext uri="{BB962C8B-B14F-4D97-AF65-F5344CB8AC3E}">
        <p14:creationId xmlns:p14="http://schemas.microsoft.com/office/powerpoint/2010/main" val="3290621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E2EB51-506D-1E49-AE8E-3487E88DA70D}" type="slidenum">
              <a:rPr lang="en-US" smtClean="0"/>
              <a:t>18</a:t>
            </a:fld>
            <a:endParaRPr lang="en-US"/>
          </a:p>
        </p:txBody>
      </p:sp>
    </p:spTree>
    <p:extLst>
      <p:ext uri="{BB962C8B-B14F-4D97-AF65-F5344CB8AC3E}">
        <p14:creationId xmlns:p14="http://schemas.microsoft.com/office/powerpoint/2010/main" val="3429055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DE8AC-2756-854A-7B43-D8FAB7BA7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D3E95-C65A-2217-09E1-3784AEBC0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E3EB9-7007-EA09-473B-1683EFC5D3CA}"/>
              </a:ext>
            </a:extLst>
          </p:cNvPr>
          <p:cNvSpPr>
            <a:spLocks noGrp="1"/>
          </p:cNvSpPr>
          <p:nvPr>
            <p:ph type="body" idx="1"/>
          </p:nvPr>
        </p:nvSpPr>
        <p:spPr/>
        <p:txBody>
          <a:bodyPr/>
          <a:lstStyle/>
          <a:p>
            <a:pPr marL="171450" indent="-171450">
              <a:buFontTx/>
              <a:buChar char="-"/>
            </a:pPr>
            <a:r>
              <a:rPr lang="en-US" sz="1200" b="0" i="0" u="none" strike="noStrike" kern="1200" dirty="0">
                <a:solidFill>
                  <a:schemeClr val="tx1"/>
                </a:solidFill>
                <a:effectLst/>
                <a:latin typeface="+mn-lt"/>
                <a:ea typeface="+mn-ea"/>
                <a:cs typeface="+mn-cs"/>
              </a:rPr>
              <a:t>Analysis results raise questions about why </a:t>
            </a:r>
            <a:r>
              <a:rPr lang="en-US" sz="1200" b="0" i="0" u="none" strike="noStrike" kern="1200" dirty="0" err="1">
                <a:solidFill>
                  <a:schemeClr val="tx1"/>
                </a:solidFill>
                <a:effectLst/>
                <a:latin typeface="+mn-lt"/>
                <a:ea typeface="+mn-ea"/>
                <a:cs typeface="+mn-cs"/>
              </a:rPr>
              <a:t>HepB</a:t>
            </a:r>
            <a:r>
              <a:rPr lang="en-US" sz="1200" b="0" i="0" u="none" strike="noStrike" kern="1200" dirty="0">
                <a:solidFill>
                  <a:schemeClr val="tx1"/>
                </a:solidFill>
                <a:effectLst/>
                <a:latin typeface="+mn-lt"/>
                <a:ea typeface="+mn-ea"/>
                <a:cs typeface="+mn-cs"/>
              </a:rPr>
              <a:t> and polio are associated in opposite directions? Maybe explained by caregiver hesitancy of polio vaccine? Both are part of routine immunizations in Texas</a:t>
            </a:r>
          </a:p>
          <a:p>
            <a:pPr marL="171450" indent="-171450">
              <a:buFontTx/>
              <a:buChar char="-"/>
            </a:pPr>
            <a:r>
              <a:rPr lang="en-US" sz="1200" b="0" i="0" u="none" strike="noStrike" kern="1200" dirty="0">
                <a:solidFill>
                  <a:schemeClr val="tx1"/>
                </a:solidFill>
                <a:effectLst/>
                <a:latin typeface="+mn-lt"/>
                <a:ea typeface="+mn-ea"/>
                <a:cs typeface="+mn-cs"/>
              </a:rPr>
              <a:t>Access</a:t>
            </a:r>
          </a:p>
          <a:p>
            <a:pPr marL="628650" lvl="1" indent="-171450">
              <a:buFontTx/>
              <a:buChar char="-"/>
            </a:pPr>
            <a:r>
              <a:rPr lang="en-US" sz="1200" b="0" i="0" u="none" strike="noStrike" kern="1200" dirty="0">
                <a:solidFill>
                  <a:schemeClr val="tx1"/>
                </a:solidFill>
                <a:effectLst/>
                <a:latin typeface="+mn-lt"/>
                <a:ea typeface="+mn-ea"/>
                <a:cs typeface="+mn-cs"/>
              </a:rPr>
              <a:t>Primary Care Physicians as one of the most important feature points to the role of access and a possible health worker structural barrier that could be addressed in counties with the lowest proportion and # of PCPs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i="0" u="none" strike="noStrike" kern="1200" dirty="0">
                <a:solidFill>
                  <a:schemeClr val="tx1"/>
                </a:solidFill>
                <a:effectLst/>
                <a:latin typeface="+mn-lt"/>
                <a:ea typeface="+mn-ea"/>
                <a:cs typeface="+mn-cs"/>
              </a:rPr>
              <a:t>Number of live births may suggest that areas with rapidly growing populations need more attention to make sure kids &lt;5 get the recommended vaccines</a:t>
            </a:r>
          </a:p>
          <a:p>
            <a:pPr marL="171450" indent="-171450">
              <a:buFontTx/>
              <a:buChar char="-"/>
            </a:pPr>
            <a:r>
              <a:rPr lang="en-US" sz="1200" b="0" i="0" u="none" strike="noStrike" kern="1200" dirty="0">
                <a:solidFill>
                  <a:schemeClr val="tx1"/>
                </a:solidFill>
                <a:effectLst/>
                <a:latin typeface="+mn-lt"/>
                <a:ea typeface="+mn-ea"/>
                <a:cs typeface="+mn-cs"/>
              </a:rPr>
              <a:t>While the COVID-19 vaccine rollout index was a top factor, this isn’t as useful as the index reflects a number of different socio-demographic characteristics for each county. </a:t>
            </a:r>
          </a:p>
          <a:p>
            <a:pPr marL="171450" indent="-171450">
              <a:buFontTx/>
              <a:buChar char="-"/>
            </a:pPr>
            <a:r>
              <a:rPr lang="en-US" sz="1200" b="0" i="0" u="none" strike="noStrike" kern="1200" dirty="0">
                <a:solidFill>
                  <a:schemeClr val="tx1"/>
                </a:solidFill>
                <a:effectLst/>
                <a:latin typeface="+mn-lt"/>
                <a:ea typeface="+mn-ea"/>
                <a:cs typeface="+mn-cs"/>
              </a:rPr>
              <a:t>Omitted variables :</a:t>
            </a:r>
          </a:p>
          <a:p>
            <a:pPr marL="628650" lvl="1" indent="-171450">
              <a:buFontTx/>
              <a:buChar char="-"/>
            </a:pPr>
            <a:r>
              <a:rPr lang="en-US" sz="1200" b="0" i="0" u="none" strike="noStrike" kern="1200" dirty="0">
                <a:solidFill>
                  <a:schemeClr val="tx1"/>
                </a:solidFill>
                <a:effectLst/>
                <a:latin typeface="+mn-lt"/>
                <a:ea typeface="+mn-ea"/>
                <a:cs typeface="+mn-cs"/>
              </a:rPr>
              <a:t>It would be helpful to understand how caregivers feel about the MMR vaccine specifically as well as how local policies and implementation of routine vaccination differ from county to county </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7BC7291C-B61E-CB34-550E-5708AF60A354}"/>
              </a:ext>
            </a:extLst>
          </p:cNvPr>
          <p:cNvSpPr>
            <a:spLocks noGrp="1"/>
          </p:cNvSpPr>
          <p:nvPr>
            <p:ph type="sldNum" sz="quarter" idx="5"/>
          </p:nvPr>
        </p:nvSpPr>
        <p:spPr/>
        <p:txBody>
          <a:bodyPr/>
          <a:lstStyle/>
          <a:p>
            <a:fld id="{F4E2EB51-506D-1E49-AE8E-3487E88DA70D}" type="slidenum">
              <a:rPr lang="en-US" smtClean="0"/>
              <a:t>22</a:t>
            </a:fld>
            <a:endParaRPr lang="en-US"/>
          </a:p>
        </p:txBody>
      </p:sp>
    </p:spTree>
    <p:extLst>
      <p:ext uri="{BB962C8B-B14F-4D97-AF65-F5344CB8AC3E}">
        <p14:creationId xmlns:p14="http://schemas.microsoft.com/office/powerpoint/2010/main" val="1365205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F50B0-5EAD-D3EE-A4F5-206E42DD1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AB281-E86D-67F8-E500-86BCEFEE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272640-28D3-A4EA-DFDE-5BCE051F9C08}"/>
              </a:ext>
            </a:extLst>
          </p:cNvPr>
          <p:cNvSpPr>
            <a:spLocks noGrp="1"/>
          </p:cNvSpPr>
          <p:nvPr>
            <p:ph type="body" idx="1"/>
          </p:nvPr>
        </p:nvSpPr>
        <p:spPr/>
        <p:txBody>
          <a:bodyPr/>
          <a:lstStyle/>
          <a:p>
            <a:pPr marL="171450" indent="-171450">
              <a:buFontTx/>
              <a:buChar char="-"/>
            </a:pPr>
            <a:r>
              <a:rPr lang="en-US" sz="1200" b="0" i="0" u="none" strike="noStrike" kern="1200" dirty="0">
                <a:solidFill>
                  <a:schemeClr val="tx1"/>
                </a:solidFill>
                <a:effectLst/>
                <a:latin typeface="+mn-lt"/>
                <a:ea typeface="+mn-ea"/>
                <a:cs typeface="+mn-cs"/>
              </a:rPr>
              <a:t>Omitted variables :</a:t>
            </a:r>
          </a:p>
          <a:p>
            <a:pPr marL="628650" lvl="1" indent="-171450">
              <a:buFontTx/>
              <a:buChar char="-"/>
            </a:pPr>
            <a:r>
              <a:rPr lang="en-US" sz="1200" b="0" i="0" u="none" strike="noStrike" kern="1200" dirty="0">
                <a:solidFill>
                  <a:schemeClr val="tx1"/>
                </a:solidFill>
                <a:effectLst/>
                <a:latin typeface="+mn-lt"/>
                <a:ea typeface="+mn-ea"/>
                <a:cs typeface="+mn-cs"/>
              </a:rPr>
              <a:t>It would be helpful to understand how caregivers feel about the MMR vaccine specifically as well as how local policies and implementation of routine vaccination differ from county to county </a:t>
            </a:r>
          </a:p>
          <a:p>
            <a:r>
              <a:rPr lang="en-US" dirty="0"/>
              <a:t>- The elevated importance in IMR , and segregation index may reflect systemic health and demographic inequities that play a role in influencing vaccine coverage.  For example, a higher IMR may reflect limited or delayed access to care for pregnant mothers or poor quality of care, or other resource barriers </a:t>
            </a:r>
          </a:p>
        </p:txBody>
      </p:sp>
      <p:sp>
        <p:nvSpPr>
          <p:cNvPr id="4" name="Slide Number Placeholder 3">
            <a:extLst>
              <a:ext uri="{FF2B5EF4-FFF2-40B4-BE49-F238E27FC236}">
                <a16:creationId xmlns:a16="http://schemas.microsoft.com/office/drawing/2014/main" id="{A836312B-E33C-6BD5-180D-860E760CEEFB}"/>
              </a:ext>
            </a:extLst>
          </p:cNvPr>
          <p:cNvSpPr>
            <a:spLocks noGrp="1"/>
          </p:cNvSpPr>
          <p:nvPr>
            <p:ph type="sldNum" sz="quarter" idx="5"/>
          </p:nvPr>
        </p:nvSpPr>
        <p:spPr/>
        <p:txBody>
          <a:bodyPr/>
          <a:lstStyle/>
          <a:p>
            <a:fld id="{F4E2EB51-506D-1E49-AE8E-3487E88DA70D}" type="slidenum">
              <a:rPr lang="en-US" smtClean="0"/>
              <a:t>23</a:t>
            </a:fld>
            <a:endParaRPr lang="en-US"/>
          </a:p>
        </p:txBody>
      </p:sp>
    </p:spTree>
    <p:extLst>
      <p:ext uri="{BB962C8B-B14F-4D97-AF65-F5344CB8AC3E}">
        <p14:creationId xmlns:p14="http://schemas.microsoft.com/office/powerpoint/2010/main" val="1423002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49A366C-31A3-1049-BC08-CAD5535EF91E}" type="datetimeFigureOut">
              <a:rPr lang="en-US" smtClean="0"/>
              <a:t>12/28/25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74018252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A366C-31A3-1049-BC08-CAD5535EF91E}" type="datetimeFigureOut">
              <a:rPr lang="en-US" smtClean="0"/>
              <a:t>12/28/25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3188739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49A366C-31A3-1049-BC08-CAD5535EF91E}" type="datetimeFigureOut">
              <a:rPr lang="en-US" smtClean="0"/>
              <a:t>12/28/25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73012974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49A366C-31A3-1049-BC08-CAD5535EF91E}" type="datetimeFigureOut">
              <a:rPr lang="en-US" smtClean="0"/>
              <a:t>12/28/25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1782501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49A366C-31A3-1049-BC08-CAD5535EF91E}" type="datetimeFigureOut">
              <a:rPr lang="en-US" smtClean="0"/>
              <a:t>12/28/25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D32277-6A4A-5F45-A86A-1EBD51906970}"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927894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A366C-31A3-1049-BC08-CAD5535EF91E}" type="datetimeFigureOut">
              <a:rPr lang="en-US" smtClean="0"/>
              <a:t>12/28/25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145962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A366C-31A3-1049-BC08-CAD5535EF91E}" type="datetimeFigureOut">
              <a:rPr lang="en-US" smtClean="0"/>
              <a:t>12/28/25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2371652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49A366C-31A3-1049-BC08-CAD5535EF91E}" type="datetimeFigureOut">
              <a:rPr lang="en-US" smtClean="0"/>
              <a:t>12/28/25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2181679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49A366C-31A3-1049-BC08-CAD5535EF91E}" type="datetimeFigureOut">
              <a:rPr lang="en-US" smtClean="0"/>
              <a:t>12/28/25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2712767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A366C-31A3-1049-BC08-CAD5535EF91E}" type="datetimeFigureOut">
              <a:rPr lang="en-US" smtClean="0"/>
              <a:t>12/28/25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274464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A366C-31A3-1049-BC08-CAD5535EF91E}" type="datetimeFigureOut">
              <a:rPr lang="en-US" smtClean="0"/>
              <a:t>12/28/25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D32277-6A4A-5F45-A86A-1EBD51906970}" type="slidenum">
              <a:rPr lang="en-US" smtClean="0"/>
              <a:t>‹#›</a:t>
            </a:fld>
            <a:endParaRPr lang="en-US"/>
          </a:p>
        </p:txBody>
      </p:sp>
    </p:spTree>
    <p:extLst>
      <p:ext uri="{BB962C8B-B14F-4D97-AF65-F5344CB8AC3E}">
        <p14:creationId xmlns:p14="http://schemas.microsoft.com/office/powerpoint/2010/main" val="3485288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49A366C-31A3-1049-BC08-CAD5535EF91E}" type="datetimeFigureOut">
              <a:rPr lang="en-US" smtClean="0"/>
              <a:t>12/28/25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AD32277-6A4A-5F45-A86A-1EBD51906970}" type="slidenum">
              <a:rPr lang="en-US" smtClean="0"/>
              <a:t>‹#›</a:t>
            </a:fld>
            <a:endParaRPr lang="en-US"/>
          </a:p>
        </p:txBody>
      </p:sp>
    </p:spTree>
    <p:extLst>
      <p:ext uri="{BB962C8B-B14F-4D97-AF65-F5344CB8AC3E}">
        <p14:creationId xmlns:p14="http://schemas.microsoft.com/office/powerpoint/2010/main" val="3573887583"/>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dshs.texas.gov/immunizations/data/school/coverag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census.gov/programs-surveys/household-pulse-survey.html" TargetMode="External"/><Relationship Id="rId4" Type="http://schemas.openxmlformats.org/officeDocument/2006/relationships/hyperlink" Target="https://www.countyhealthrankings.or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CD79D-C412-5CEE-B037-21540BB60F4E}"/>
              </a:ext>
            </a:extLst>
          </p:cNvPr>
          <p:cNvSpPr>
            <a:spLocks noGrp="1"/>
          </p:cNvSpPr>
          <p:nvPr>
            <p:ph type="ctrTitle"/>
          </p:nvPr>
        </p:nvSpPr>
        <p:spPr/>
        <p:txBody>
          <a:bodyPr>
            <a:normAutofit fontScale="90000"/>
          </a:bodyPr>
          <a:lstStyle/>
          <a:p>
            <a:r>
              <a:rPr lang="en-US" dirty="0"/>
              <a:t>Drivers and prediction of anti-measles immunization Rates </a:t>
            </a:r>
            <a:br>
              <a:rPr lang="en-US" dirty="0"/>
            </a:br>
            <a:r>
              <a:rPr lang="en-US" dirty="0"/>
              <a:t>in Texas</a:t>
            </a:r>
          </a:p>
        </p:txBody>
      </p:sp>
      <p:sp>
        <p:nvSpPr>
          <p:cNvPr id="3" name="Subtitle 2">
            <a:extLst>
              <a:ext uri="{FF2B5EF4-FFF2-40B4-BE49-F238E27FC236}">
                <a16:creationId xmlns:a16="http://schemas.microsoft.com/office/drawing/2014/main" id="{4C8ED21C-815F-EF5A-9CA7-9855B7ABBB6A}"/>
              </a:ext>
            </a:extLst>
          </p:cNvPr>
          <p:cNvSpPr>
            <a:spLocks noGrp="1"/>
          </p:cNvSpPr>
          <p:nvPr>
            <p:ph type="subTitle" idx="1"/>
          </p:nvPr>
        </p:nvSpPr>
        <p:spPr/>
        <p:txBody>
          <a:bodyPr>
            <a:normAutofit lnSpcReduction="10000"/>
          </a:bodyPr>
          <a:lstStyle/>
          <a:p>
            <a:r>
              <a:rPr lang="en-US" dirty="0"/>
              <a:t>Grace Awantang</a:t>
            </a:r>
          </a:p>
          <a:p>
            <a:r>
              <a:rPr lang="en-US" dirty="0"/>
              <a:t>Capstone presentation; </a:t>
            </a:r>
          </a:p>
          <a:p>
            <a:r>
              <a:rPr lang="en-US" dirty="0"/>
              <a:t>Data Science Bootcamp</a:t>
            </a:r>
          </a:p>
        </p:txBody>
      </p:sp>
    </p:spTree>
    <p:extLst>
      <p:ext uri="{BB962C8B-B14F-4D97-AF65-F5344CB8AC3E}">
        <p14:creationId xmlns:p14="http://schemas.microsoft.com/office/powerpoint/2010/main" val="44882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2FBDC-A6C4-0151-FD30-4AB350AD4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97786-D952-C80C-3731-2489DE268EC1}"/>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61C427C1-7DC1-C763-D08D-EFF289D1F587}"/>
              </a:ext>
            </a:extLst>
          </p:cNvPr>
          <p:cNvSpPr>
            <a:spLocks noGrp="1"/>
          </p:cNvSpPr>
          <p:nvPr>
            <p:ph idx="1"/>
          </p:nvPr>
        </p:nvSpPr>
        <p:spPr>
          <a:xfrm>
            <a:off x="6841671" y="2638044"/>
            <a:ext cx="3119193" cy="3489706"/>
          </a:xfrm>
        </p:spPr>
        <p:txBody>
          <a:bodyPr>
            <a:normAutofit fontScale="92500" lnSpcReduction="20000"/>
          </a:bodyPr>
          <a:lstStyle/>
          <a:p>
            <a:r>
              <a:rPr lang="en-US" sz="2400" dirty="0"/>
              <a:t>Measles was declared eliminated from the US in 2000</a:t>
            </a:r>
          </a:p>
          <a:p>
            <a:r>
              <a:rPr lang="en-US" sz="2400" dirty="0"/>
              <a:t>However, in late January of 2025, cases of measles were confirmed in West Texas</a:t>
            </a:r>
          </a:p>
          <a:p>
            <a:r>
              <a:rPr lang="en-US" sz="2400" dirty="0"/>
              <a:t>This outbreak has been linked to lower vaccination rates</a:t>
            </a:r>
          </a:p>
          <a:p>
            <a:endParaRPr lang="en-US" sz="2400" dirty="0"/>
          </a:p>
          <a:p>
            <a:endParaRPr lang="en-US" sz="2400" dirty="0"/>
          </a:p>
          <a:p>
            <a:endParaRPr lang="en-US" sz="2400" dirty="0"/>
          </a:p>
        </p:txBody>
      </p:sp>
      <p:pic>
        <p:nvPicPr>
          <p:cNvPr id="1026" name="Picture 2" descr="Toddler with measles">
            <a:extLst>
              <a:ext uri="{FF2B5EF4-FFF2-40B4-BE49-F238E27FC236}">
                <a16:creationId xmlns:a16="http://schemas.microsoft.com/office/drawing/2014/main" id="{367E54B6-810E-DE18-D22A-0829B9764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3620" y="2638044"/>
            <a:ext cx="4521594" cy="306977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911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FE424-1284-9014-6AFA-82EF4B90C3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0D2D5-476B-35C6-C198-A91097706333}"/>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3FB21E94-47C2-DAA9-F193-3A4A14C2222D}"/>
              </a:ext>
            </a:extLst>
          </p:cNvPr>
          <p:cNvSpPr>
            <a:spLocks noGrp="1"/>
          </p:cNvSpPr>
          <p:nvPr>
            <p:ph idx="1"/>
          </p:nvPr>
        </p:nvSpPr>
        <p:spPr>
          <a:xfrm>
            <a:off x="6096000" y="2445353"/>
            <a:ext cx="3864863" cy="4016338"/>
          </a:xfrm>
        </p:spPr>
        <p:txBody>
          <a:bodyPr>
            <a:normAutofit/>
          </a:bodyPr>
          <a:lstStyle/>
          <a:p>
            <a:r>
              <a:rPr lang="en-US" sz="2400" dirty="0"/>
              <a:t>The initial handful of cases quickly ballooned to hundreds across many counties in and outside of Texas</a:t>
            </a:r>
          </a:p>
          <a:p>
            <a:r>
              <a:rPr lang="en-US" sz="2400" dirty="0"/>
              <a:t>Cases were also reported in neighboring New Mexico as well as Kansas, and Iowa</a:t>
            </a:r>
          </a:p>
          <a:p>
            <a:endParaRPr lang="en-US" sz="2400" dirty="0"/>
          </a:p>
          <a:p>
            <a:endParaRPr lang="en-US" sz="2400" dirty="0"/>
          </a:p>
          <a:p>
            <a:endParaRPr lang="en-US" sz="2400" dirty="0"/>
          </a:p>
        </p:txBody>
      </p:sp>
      <p:pic>
        <p:nvPicPr>
          <p:cNvPr id="3074" name="Picture 2">
            <a:extLst>
              <a:ext uri="{FF2B5EF4-FFF2-40B4-BE49-F238E27FC236}">
                <a16:creationId xmlns:a16="http://schemas.microsoft.com/office/drawing/2014/main" id="{9D01A536-4468-0679-A1DE-5B630D10C4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1136" y="2412696"/>
            <a:ext cx="3503386" cy="40489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607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4CE34-E03A-62CD-778C-ADC7B4469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CA3107-1053-E77E-3044-8AC1B24C5624}"/>
              </a:ext>
            </a:extLst>
          </p:cNvPr>
          <p:cNvSpPr>
            <a:spLocks noGrp="1"/>
          </p:cNvSpPr>
          <p:nvPr>
            <p:ph type="title"/>
          </p:nvPr>
        </p:nvSpPr>
        <p:spPr/>
        <p:txBody>
          <a:bodyPr/>
          <a:lstStyle/>
          <a:p>
            <a:r>
              <a:rPr lang="en-US" dirty="0"/>
              <a:t>Problem</a:t>
            </a:r>
          </a:p>
        </p:txBody>
      </p:sp>
      <p:pic>
        <p:nvPicPr>
          <p:cNvPr id="5" name="Picture 4">
            <a:extLst>
              <a:ext uri="{FF2B5EF4-FFF2-40B4-BE49-F238E27FC236}">
                <a16:creationId xmlns:a16="http://schemas.microsoft.com/office/drawing/2014/main" id="{83DA700D-EB31-A33E-84ED-5B404255C97D}"/>
              </a:ext>
            </a:extLst>
          </p:cNvPr>
          <p:cNvPicPr>
            <a:picLocks noChangeAspect="1"/>
          </p:cNvPicPr>
          <p:nvPr/>
        </p:nvPicPr>
        <p:blipFill>
          <a:blip r:embed="rId3"/>
          <a:stretch>
            <a:fillRect/>
          </a:stretch>
        </p:blipFill>
        <p:spPr>
          <a:xfrm>
            <a:off x="2231136" y="2563566"/>
            <a:ext cx="7876029" cy="395741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Content Placeholder 5">
            <a:extLst>
              <a:ext uri="{FF2B5EF4-FFF2-40B4-BE49-F238E27FC236}">
                <a16:creationId xmlns:a16="http://schemas.microsoft.com/office/drawing/2014/main" id="{5068C60B-8CD1-88D4-B73A-E5C764333672}"/>
              </a:ext>
            </a:extLst>
          </p:cNvPr>
          <p:cNvSpPr>
            <a:spLocks noGrp="1"/>
          </p:cNvSpPr>
          <p:nvPr>
            <p:ph idx="1"/>
          </p:nvPr>
        </p:nvSpPr>
        <p:spPr>
          <a:xfrm>
            <a:off x="2231136" y="2175075"/>
            <a:ext cx="7729728" cy="3101983"/>
          </a:xfrm>
        </p:spPr>
        <p:txBody>
          <a:bodyPr/>
          <a:lstStyle/>
          <a:p>
            <a:r>
              <a:rPr lang="en-US" dirty="0"/>
              <a:t>West Texas Outbreak of Measles Cases by Date of Rash Onset</a:t>
            </a:r>
          </a:p>
        </p:txBody>
      </p:sp>
    </p:spTree>
    <p:extLst>
      <p:ext uri="{BB962C8B-B14F-4D97-AF65-F5344CB8AC3E}">
        <p14:creationId xmlns:p14="http://schemas.microsoft.com/office/powerpoint/2010/main" val="2979090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700D3-471E-6B8B-1BBC-19854BCE175D}"/>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1C6AF201-6A6D-F0C2-3BFD-2991AC7594BB}"/>
              </a:ext>
            </a:extLst>
          </p:cNvPr>
          <p:cNvSpPr>
            <a:spLocks noGrp="1"/>
          </p:cNvSpPr>
          <p:nvPr>
            <p:ph idx="1"/>
          </p:nvPr>
        </p:nvSpPr>
        <p:spPr/>
        <p:txBody>
          <a:bodyPr>
            <a:normAutofit/>
          </a:bodyPr>
          <a:lstStyle/>
          <a:p>
            <a:r>
              <a:rPr lang="en-US" sz="2400" dirty="0"/>
              <a:t>95% of kindergarten-aged children need to be vaccinated against measles to prevent disease outbreaks (WHO, UNICEF 2025)</a:t>
            </a:r>
          </a:p>
          <a:p>
            <a:r>
              <a:rPr lang="en-US" sz="2400" dirty="0"/>
              <a:t>Researchers have documented nation-wide decreases in the proportion of American kindergarteners receiving the MMR and DTaP vaccine since the COVID-19 pandemic as well as an increase in requested exemptions</a:t>
            </a:r>
          </a:p>
          <a:p>
            <a:endParaRPr lang="en-US" sz="2400" dirty="0"/>
          </a:p>
          <a:p>
            <a:endParaRPr lang="en-US" sz="2400" dirty="0"/>
          </a:p>
          <a:p>
            <a:endParaRPr lang="en-US" sz="2400" dirty="0"/>
          </a:p>
        </p:txBody>
      </p:sp>
    </p:spTree>
    <p:extLst>
      <p:ext uri="{BB962C8B-B14F-4D97-AF65-F5344CB8AC3E}">
        <p14:creationId xmlns:p14="http://schemas.microsoft.com/office/powerpoint/2010/main" val="1443338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673CE-0AD7-64EF-D7A2-178E525571D6}"/>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94DE8C1-96FD-7B55-0685-A62E142C28CD}"/>
              </a:ext>
            </a:extLst>
          </p:cNvPr>
          <p:cNvSpPr>
            <a:spLocks noGrp="1"/>
          </p:cNvSpPr>
          <p:nvPr>
            <p:ph idx="1"/>
          </p:nvPr>
        </p:nvSpPr>
        <p:spPr/>
        <p:txBody>
          <a:bodyPr>
            <a:normAutofit/>
          </a:bodyPr>
          <a:lstStyle/>
          <a:p>
            <a:pPr marL="342900" indent="-342900" fontAlgn="base">
              <a:buFont typeface="+mj-lt"/>
              <a:buAutoNum type="arabicPeriod"/>
            </a:pPr>
            <a:r>
              <a:rPr lang="en-US" sz="2400" dirty="0"/>
              <a:t>What are the </a:t>
            </a:r>
            <a:r>
              <a:rPr lang="en-US" sz="2400" b="1" dirty="0"/>
              <a:t>strongest predictors </a:t>
            </a:r>
            <a:r>
              <a:rPr lang="en-US" sz="2400" dirty="0"/>
              <a:t>of high county-level measles vaccination rates across Texas being up-to-date on the MMR vaccine series? </a:t>
            </a:r>
          </a:p>
          <a:p>
            <a:pPr marL="342900" indent="-342900" fontAlgn="base">
              <a:buFont typeface="+mj-lt"/>
              <a:buAutoNum type="arabicPeriod"/>
            </a:pPr>
            <a:r>
              <a:rPr lang="en-US" sz="2400" dirty="0"/>
              <a:t>What </a:t>
            </a:r>
            <a:r>
              <a:rPr lang="en-US" sz="2400" b="1" dirty="0"/>
              <a:t>ability</a:t>
            </a:r>
            <a:r>
              <a:rPr lang="en-US" sz="2400" dirty="0"/>
              <a:t> do machine learning models have in </a:t>
            </a:r>
            <a:r>
              <a:rPr lang="en-US" sz="2400" b="1" dirty="0"/>
              <a:t>predicting future </a:t>
            </a:r>
            <a:r>
              <a:rPr lang="en-US" sz="2400" dirty="0"/>
              <a:t>(i.e. 2023) county-level measles vaccination immunization coverage rates based on </a:t>
            </a:r>
            <a:r>
              <a:rPr lang="en-US" sz="2400" b="1" dirty="0"/>
              <a:t>available data </a:t>
            </a:r>
            <a:r>
              <a:rPr lang="en-US" sz="2400" dirty="0"/>
              <a:t>from previous years (2000 – 2022)?</a:t>
            </a:r>
          </a:p>
        </p:txBody>
      </p:sp>
    </p:spTree>
    <p:extLst>
      <p:ext uri="{BB962C8B-B14F-4D97-AF65-F5344CB8AC3E}">
        <p14:creationId xmlns:p14="http://schemas.microsoft.com/office/powerpoint/2010/main" val="403402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3D37B-5F79-A092-59B9-DBC15DE74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C6620-0154-4317-72F5-88A2DC0727A4}"/>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C9E10F86-578D-4AA5-C6E3-E9C4F9D87D14}"/>
              </a:ext>
            </a:extLst>
          </p:cNvPr>
          <p:cNvSpPr>
            <a:spLocks noGrp="1"/>
          </p:cNvSpPr>
          <p:nvPr>
            <p:ph idx="1"/>
          </p:nvPr>
        </p:nvSpPr>
        <p:spPr>
          <a:xfrm>
            <a:off x="1273629" y="2302330"/>
            <a:ext cx="9780813" cy="3437698"/>
          </a:xfrm>
        </p:spPr>
        <p:txBody>
          <a:bodyPr numCol="2">
            <a:normAutofit/>
          </a:bodyPr>
          <a:lstStyle/>
          <a:p>
            <a:pPr marL="342900" indent="-342900" fontAlgn="base">
              <a:buFont typeface="+mj-lt"/>
              <a:buAutoNum type="arabicPeriod"/>
            </a:pPr>
            <a:r>
              <a:rPr lang="en-US" sz="2400" dirty="0"/>
              <a:t>What are the </a:t>
            </a:r>
            <a:r>
              <a:rPr lang="en-US" sz="2400" b="1" dirty="0"/>
              <a:t>strongest predictors </a:t>
            </a:r>
            <a:r>
              <a:rPr lang="en-US" sz="2400" dirty="0"/>
              <a:t>of high county-level measles vaccination rates across Texas being up-to-date on the  MMR vaccine series? </a:t>
            </a:r>
          </a:p>
          <a:p>
            <a:pPr marL="342900" indent="-342900" fontAlgn="base">
              <a:buFont typeface="+mj-lt"/>
              <a:buAutoNum type="arabicPeriod"/>
            </a:pPr>
            <a:endParaRPr lang="en-US" sz="2400" dirty="0"/>
          </a:p>
          <a:p>
            <a:pPr marL="342900" indent="-342900" fontAlgn="base">
              <a:buFont typeface="+mj-lt"/>
              <a:buAutoNum type="arabicPeriod"/>
            </a:pPr>
            <a:endParaRPr lang="en-US" sz="2400" dirty="0"/>
          </a:p>
          <a:p>
            <a:pPr marL="342900" indent="-342900" fontAlgn="base">
              <a:buFont typeface="+mj-lt"/>
              <a:buAutoNum type="arabicPeriod"/>
            </a:pPr>
            <a:endParaRPr lang="en-US" sz="2400" dirty="0"/>
          </a:p>
          <a:p>
            <a:pPr marL="0" indent="0" fontAlgn="base">
              <a:buNone/>
            </a:pPr>
            <a:r>
              <a:rPr lang="en-US" sz="2400" b="1" dirty="0"/>
              <a:t>Answer</a:t>
            </a:r>
            <a:r>
              <a:rPr lang="en-US" sz="2400" dirty="0"/>
              <a:t>: </a:t>
            </a:r>
          </a:p>
          <a:p>
            <a:pPr marL="0" indent="0" fontAlgn="base">
              <a:buNone/>
            </a:pPr>
            <a:r>
              <a:rPr lang="en-US" dirty="0"/>
              <a:t>1.) Hepatitis B coverage, (+)</a:t>
            </a:r>
          </a:p>
          <a:p>
            <a:pPr marL="0" indent="0" fontAlgn="base">
              <a:buNone/>
            </a:pPr>
            <a:r>
              <a:rPr lang="en-US" dirty="0"/>
              <a:t>2.) the number of live births in a county, (-)</a:t>
            </a:r>
          </a:p>
          <a:p>
            <a:pPr marL="0" indent="0" fontAlgn="base">
              <a:buNone/>
            </a:pPr>
            <a:r>
              <a:rPr lang="en-US" dirty="0"/>
              <a:t>3.) polio vaccine coverage, (-)</a:t>
            </a:r>
          </a:p>
          <a:p>
            <a:pPr marL="0" indent="0" fontAlgn="base">
              <a:buNone/>
            </a:pPr>
            <a:r>
              <a:rPr lang="en-US" dirty="0"/>
              <a:t>4.) the concern for COVID-19 vaccination rollout index (+) and </a:t>
            </a:r>
          </a:p>
          <a:p>
            <a:pPr marL="0" indent="0" fontAlgn="base">
              <a:buNone/>
            </a:pPr>
            <a:r>
              <a:rPr lang="en-US" dirty="0"/>
              <a:t>5.) the Primary Care Physicians Rate (+). </a:t>
            </a:r>
            <a:endParaRPr lang="en-US" sz="2400" dirty="0"/>
          </a:p>
        </p:txBody>
      </p:sp>
      <p:sp>
        <p:nvSpPr>
          <p:cNvPr id="4" name="TextBox 3">
            <a:extLst>
              <a:ext uri="{FF2B5EF4-FFF2-40B4-BE49-F238E27FC236}">
                <a16:creationId xmlns:a16="http://schemas.microsoft.com/office/drawing/2014/main" id="{CC79695B-0D9D-6094-C0DA-3008CFE99A9A}"/>
              </a:ext>
            </a:extLst>
          </p:cNvPr>
          <p:cNvSpPr txBox="1"/>
          <p:nvPr/>
        </p:nvSpPr>
        <p:spPr>
          <a:xfrm>
            <a:off x="1698171" y="5578328"/>
            <a:ext cx="7690758" cy="646331"/>
          </a:xfrm>
          <a:prstGeom prst="rect">
            <a:avLst/>
          </a:prstGeom>
          <a:noFill/>
        </p:spPr>
        <p:txBody>
          <a:bodyPr wrap="square" rtlCol="0">
            <a:spAutoFit/>
          </a:bodyPr>
          <a:lstStyle/>
          <a:p>
            <a:r>
              <a:rPr lang="en-US" dirty="0">
                <a:solidFill>
                  <a:srgbClr val="FF0000"/>
                </a:solidFill>
              </a:rPr>
              <a:t>However! Model performance was very poor.  </a:t>
            </a:r>
            <a:r>
              <a:rPr lang="en-US" dirty="0"/>
              <a:t>The correlates included did not appear to explain much of the variance in estimated coverage rates.</a:t>
            </a:r>
          </a:p>
        </p:txBody>
      </p:sp>
    </p:spTree>
    <p:extLst>
      <p:ext uri="{BB962C8B-B14F-4D97-AF65-F5344CB8AC3E}">
        <p14:creationId xmlns:p14="http://schemas.microsoft.com/office/powerpoint/2010/main" val="955459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62DE2-8391-C262-C387-44E5FFBCF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8FD6F-F046-2401-BE0A-562B52AB2AEB}"/>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A1167E76-0A04-1025-0002-F62875E54594}"/>
              </a:ext>
            </a:extLst>
          </p:cNvPr>
          <p:cNvSpPr>
            <a:spLocks noGrp="1"/>
          </p:cNvSpPr>
          <p:nvPr>
            <p:ph idx="1"/>
          </p:nvPr>
        </p:nvSpPr>
        <p:spPr>
          <a:xfrm>
            <a:off x="1273629" y="2302330"/>
            <a:ext cx="9780813" cy="3437698"/>
          </a:xfrm>
        </p:spPr>
        <p:txBody>
          <a:bodyPr numCol="2">
            <a:normAutofit/>
          </a:bodyPr>
          <a:lstStyle/>
          <a:p>
            <a:pPr marL="342900" indent="-342900" fontAlgn="base">
              <a:buFont typeface="+mj-lt"/>
              <a:buAutoNum type="arabicPeriod"/>
            </a:pPr>
            <a:r>
              <a:rPr lang="en-US" sz="2400" dirty="0"/>
              <a:t>What </a:t>
            </a:r>
            <a:r>
              <a:rPr lang="en-US" sz="2400" b="1" dirty="0"/>
              <a:t>ability</a:t>
            </a:r>
            <a:r>
              <a:rPr lang="en-US" sz="2400" dirty="0"/>
              <a:t> do machine learning models have in </a:t>
            </a:r>
            <a:r>
              <a:rPr lang="en-US" sz="2400" b="1" dirty="0"/>
              <a:t>predicting future </a:t>
            </a:r>
            <a:r>
              <a:rPr lang="en-US" sz="2400" dirty="0"/>
              <a:t>(i.e. 2023) county-level measles vaccination immunization coverage rates based on </a:t>
            </a:r>
            <a:r>
              <a:rPr lang="en-US" sz="2400" b="1" dirty="0"/>
              <a:t>available data </a:t>
            </a:r>
            <a:r>
              <a:rPr lang="en-US" sz="2400" dirty="0"/>
              <a:t>from previous years (2000 – 2022)?</a:t>
            </a:r>
          </a:p>
          <a:p>
            <a:pPr marL="342900" indent="-342900" fontAlgn="base">
              <a:buFont typeface="+mj-lt"/>
              <a:buAutoNum type="arabicPeriod"/>
            </a:pPr>
            <a:endParaRPr lang="en-US" sz="2400" dirty="0"/>
          </a:p>
          <a:p>
            <a:pPr marL="342900" indent="-342900" fontAlgn="base">
              <a:buFont typeface="+mj-lt"/>
              <a:buAutoNum type="arabicPeriod"/>
            </a:pPr>
            <a:endParaRPr lang="en-US" sz="2400" dirty="0"/>
          </a:p>
          <a:p>
            <a:pPr marL="0" indent="0" fontAlgn="base">
              <a:buNone/>
            </a:pPr>
            <a:r>
              <a:rPr lang="en-US" sz="2400" b="1" dirty="0"/>
              <a:t>Answer</a:t>
            </a:r>
            <a:r>
              <a:rPr lang="en-US" sz="2400" dirty="0"/>
              <a:t>: </a:t>
            </a:r>
          </a:p>
          <a:p>
            <a:pPr marL="0" indent="0" fontAlgn="base">
              <a:buNone/>
            </a:pPr>
            <a:r>
              <a:rPr lang="en-US" sz="2400" dirty="0"/>
              <a:t>Model prediction performance was weak given the available data The correlates included did not appear to explain much of the variance in predicted coverage rates.</a:t>
            </a:r>
          </a:p>
          <a:p>
            <a:pPr marL="0" indent="0" fontAlgn="base">
              <a:buNone/>
            </a:pPr>
            <a:endParaRPr lang="en-US" sz="2400" dirty="0"/>
          </a:p>
        </p:txBody>
      </p:sp>
    </p:spTree>
    <p:extLst>
      <p:ext uri="{BB962C8B-B14F-4D97-AF65-F5344CB8AC3E}">
        <p14:creationId xmlns:p14="http://schemas.microsoft.com/office/powerpoint/2010/main" val="3420729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766A9-32A1-5F45-C622-983408EE18A3}"/>
              </a:ext>
            </a:extLst>
          </p:cNvPr>
          <p:cNvSpPr>
            <a:spLocks noGrp="1"/>
          </p:cNvSpPr>
          <p:nvPr>
            <p:ph type="title"/>
          </p:nvPr>
        </p:nvSpPr>
        <p:spPr>
          <a:xfrm>
            <a:off x="2231136" y="360535"/>
            <a:ext cx="7729728" cy="1188720"/>
          </a:xfrm>
        </p:spPr>
        <p:txBody>
          <a:bodyPr/>
          <a:lstStyle/>
          <a:p>
            <a:r>
              <a:rPr lang="en-US" dirty="0"/>
              <a:t>Data wrangling: data sources</a:t>
            </a:r>
          </a:p>
        </p:txBody>
      </p:sp>
      <p:graphicFrame>
        <p:nvGraphicFramePr>
          <p:cNvPr id="4" name="Content Placeholder 3">
            <a:extLst>
              <a:ext uri="{FF2B5EF4-FFF2-40B4-BE49-F238E27FC236}">
                <a16:creationId xmlns:a16="http://schemas.microsoft.com/office/drawing/2014/main" id="{84470B92-D209-B481-58A2-CDA10F379D21}"/>
              </a:ext>
            </a:extLst>
          </p:cNvPr>
          <p:cNvGraphicFramePr>
            <a:graphicFrameLocks noGrp="1"/>
          </p:cNvGraphicFramePr>
          <p:nvPr>
            <p:ph idx="1"/>
            <p:extLst>
              <p:ext uri="{D42A27DB-BD31-4B8C-83A1-F6EECF244321}">
                <p14:modId xmlns:p14="http://schemas.microsoft.com/office/powerpoint/2010/main" val="1604324920"/>
              </p:ext>
            </p:extLst>
          </p:nvPr>
        </p:nvGraphicFramePr>
        <p:xfrm>
          <a:off x="568779" y="1681843"/>
          <a:ext cx="11054442" cy="4971158"/>
        </p:xfrm>
        <a:graphic>
          <a:graphicData uri="http://schemas.openxmlformats.org/drawingml/2006/table">
            <a:tbl>
              <a:tblPr firstRow="1" bandRow="1">
                <a:tableStyleId>{5C22544A-7EE6-4342-B048-85BDC9FD1C3A}</a:tableStyleId>
              </a:tblPr>
              <a:tblGrid>
                <a:gridCol w="2927855">
                  <a:extLst>
                    <a:ext uri="{9D8B030D-6E8A-4147-A177-3AD203B41FA5}">
                      <a16:colId xmlns:a16="http://schemas.microsoft.com/office/drawing/2014/main" val="385867836"/>
                    </a:ext>
                  </a:extLst>
                </a:gridCol>
                <a:gridCol w="8126587">
                  <a:extLst>
                    <a:ext uri="{9D8B030D-6E8A-4147-A177-3AD203B41FA5}">
                      <a16:colId xmlns:a16="http://schemas.microsoft.com/office/drawing/2014/main" val="4184387880"/>
                    </a:ext>
                  </a:extLst>
                </a:gridCol>
              </a:tblGrid>
              <a:tr h="402498">
                <a:tc>
                  <a:txBody>
                    <a:bodyPr/>
                    <a:lstStyle/>
                    <a:p>
                      <a:r>
                        <a:rPr lang="en-US" dirty="0"/>
                        <a:t>Source</a:t>
                      </a:r>
                    </a:p>
                  </a:txBody>
                  <a:tcPr/>
                </a:tc>
                <a:tc>
                  <a:txBody>
                    <a:bodyPr/>
                    <a:lstStyle/>
                    <a:p>
                      <a:r>
                        <a:rPr lang="en-US" dirty="0"/>
                        <a:t>Description</a:t>
                      </a:r>
                    </a:p>
                  </a:txBody>
                  <a:tcPr/>
                </a:tc>
                <a:extLst>
                  <a:ext uri="{0D108BD9-81ED-4DB2-BD59-A6C34878D82A}">
                    <a16:rowId xmlns:a16="http://schemas.microsoft.com/office/drawing/2014/main" val="1216624534"/>
                  </a:ext>
                </a:extLst>
              </a:tr>
              <a:tr h="992461">
                <a:tc>
                  <a:txBody>
                    <a:bodyPr/>
                    <a:lstStyle/>
                    <a:p>
                      <a:r>
                        <a:rPr lang="en-US" sz="1800" b="0" i="0" u="none" strike="noStrike" kern="1200" dirty="0">
                          <a:solidFill>
                            <a:schemeClr val="dk1"/>
                          </a:solidFill>
                          <a:effectLst/>
                          <a:latin typeface="+mn-lt"/>
                          <a:ea typeface="+mn-ea"/>
                          <a:cs typeface="+mn-cs"/>
                          <a:hlinkClick r:id="rId3"/>
                        </a:rPr>
                        <a:t>DSHS school-vaccination coverage data</a:t>
                      </a:r>
                      <a:endParaRPr lang="en-US" dirty="0"/>
                    </a:p>
                  </a:txBody>
                  <a:tcPr/>
                </a:tc>
                <a:tc>
                  <a:txBody>
                    <a:bodyPr/>
                    <a:lstStyle/>
                    <a:p>
                      <a:r>
                        <a:rPr lang="en-US" dirty="0"/>
                        <a:t>Proportion of children entering kindergarten that meet measles vaccination requirements (two doses) upon entering school.</a:t>
                      </a:r>
                    </a:p>
                  </a:txBody>
                  <a:tcPr/>
                </a:tc>
                <a:extLst>
                  <a:ext uri="{0D108BD9-81ED-4DB2-BD59-A6C34878D82A}">
                    <a16:rowId xmlns:a16="http://schemas.microsoft.com/office/drawing/2014/main" val="99284957"/>
                  </a:ext>
                </a:extLst>
              </a:tr>
              <a:tr h="1587938">
                <a:tc>
                  <a:txBody>
                    <a:bodyPr/>
                    <a:lstStyle/>
                    <a:p>
                      <a:r>
                        <a:rPr lang="en-US" sz="1800" b="0" i="0" u="sng" strike="noStrike" kern="1200" dirty="0">
                          <a:solidFill>
                            <a:schemeClr val="dk1"/>
                          </a:solidFill>
                          <a:effectLst/>
                          <a:latin typeface="+mn-lt"/>
                          <a:ea typeface="+mn-ea"/>
                          <a:cs typeface="+mn-cs"/>
                          <a:hlinkClick r:id="rId4"/>
                        </a:rPr>
                        <a:t>County Health Rankings</a:t>
                      </a:r>
                      <a:r>
                        <a:rPr lang="en-US" sz="1800" b="0" i="0" u="sng" strike="noStrike" kern="1200" dirty="0">
                          <a:solidFill>
                            <a:schemeClr val="dk1"/>
                          </a:solidFill>
                          <a:effectLst/>
                          <a:latin typeface="+mn-lt"/>
                          <a:ea typeface="+mn-ea"/>
                          <a:cs typeface="+mn-cs"/>
                        </a:rPr>
                        <a:t> (CHR)</a:t>
                      </a:r>
                      <a:endParaRPr lang="en-US" dirty="0"/>
                    </a:p>
                  </a:txBody>
                  <a:tcPr/>
                </a:tc>
                <a:tc>
                  <a:txBody>
                    <a:bodyPr/>
                    <a:lstStyle/>
                    <a:p>
                      <a:r>
                        <a:rPr lang="en-US" sz="1800" b="0" i="0" u="none" strike="noStrike" kern="1200" dirty="0">
                          <a:solidFill>
                            <a:schemeClr val="dk1"/>
                          </a:solidFill>
                          <a:effectLst/>
                          <a:latin typeface="+mn-lt"/>
                          <a:ea typeface="+mn-ea"/>
                          <a:cs typeface="+mn-cs"/>
                        </a:rPr>
                        <a:t>Includes various health, economic and socio-demographic indicators from multiple Texas state agencies including:</a:t>
                      </a:r>
                    </a:p>
                    <a:p>
                      <a:pPr marL="285750" indent="-285750">
                        <a:buFontTx/>
                        <a:buChar char="-"/>
                      </a:pPr>
                      <a:r>
                        <a:rPr lang="en-US" sz="1800" b="0" i="0" u="none" strike="noStrike" kern="1200" dirty="0">
                          <a:solidFill>
                            <a:schemeClr val="dk1"/>
                          </a:solidFill>
                          <a:effectLst/>
                          <a:latin typeface="+mn-lt"/>
                          <a:ea typeface="+mn-ea"/>
                          <a:cs typeface="+mn-cs"/>
                        </a:rPr>
                        <a:t>Residential Black/White segregation index</a:t>
                      </a:r>
                    </a:p>
                    <a:p>
                      <a:pPr marL="285750" indent="-285750">
                        <a:buFontTx/>
                        <a:buChar char="-"/>
                      </a:pPr>
                      <a:r>
                        <a:rPr lang="en-US" dirty="0"/>
                        <a:t>Median household income</a:t>
                      </a:r>
                    </a:p>
                    <a:p>
                      <a:pPr marL="285750" indent="-285750">
                        <a:buFontTx/>
                        <a:buChar char="-"/>
                      </a:pPr>
                      <a:r>
                        <a:rPr lang="en-US" dirty="0"/>
                        <a:t>Proportion of children without health insurance</a:t>
                      </a:r>
                    </a:p>
                    <a:p>
                      <a:pPr marL="285750" indent="-285750">
                        <a:buFontTx/>
                        <a:buChar char="-"/>
                      </a:pPr>
                      <a:r>
                        <a:rPr lang="en-US" dirty="0"/>
                        <a:t>Infant mortality</a:t>
                      </a:r>
                    </a:p>
                    <a:p>
                      <a:pPr marL="285750" indent="-285750">
                        <a:buFontTx/>
                        <a:buChar char="-"/>
                      </a:pPr>
                      <a:r>
                        <a:rPr lang="en-US" dirty="0"/>
                        <a:t>COVID-19 Vaccine Coverage (CVAC) Index</a:t>
                      </a:r>
                    </a:p>
                    <a:p>
                      <a:pPr marL="285750" indent="-285750">
                        <a:buFontTx/>
                        <a:buChar char="-"/>
                      </a:pPr>
                      <a:r>
                        <a:rPr lang="en-US" dirty="0"/>
                        <a:t>Social vulnerability index (SVI)</a:t>
                      </a:r>
                    </a:p>
                  </a:txBody>
                  <a:tcPr/>
                </a:tc>
                <a:extLst>
                  <a:ext uri="{0D108BD9-81ED-4DB2-BD59-A6C34878D82A}">
                    <a16:rowId xmlns:a16="http://schemas.microsoft.com/office/drawing/2014/main" val="1581465337"/>
                  </a:ext>
                </a:extLst>
              </a:tr>
              <a:tr h="1290199">
                <a:tc>
                  <a:txBody>
                    <a:bodyPr/>
                    <a:lstStyle/>
                    <a:p>
                      <a:r>
                        <a:rPr lang="en-US" dirty="0"/>
                        <a:t>Big Query</a:t>
                      </a:r>
                    </a:p>
                  </a:txBody>
                  <a:tcPr/>
                </a:tc>
                <a:tc>
                  <a:txBody>
                    <a:bodyPr/>
                    <a:lstStyle/>
                    <a:p>
                      <a:r>
                        <a:rPr lang="en-US" sz="1800" b="0" i="0" u="none" strike="noStrike" kern="1200" dirty="0">
                          <a:solidFill>
                            <a:schemeClr val="dk1"/>
                          </a:solidFill>
                          <a:effectLst/>
                          <a:latin typeface="+mn-lt"/>
                          <a:ea typeface="+mn-ea"/>
                          <a:cs typeface="+mn-cs"/>
                        </a:rPr>
                        <a:t>Health Professional Shortage Area (HPSA) scores</a:t>
                      </a:r>
                    </a:p>
                    <a:p>
                      <a:r>
                        <a:rPr lang="en-US" sz="1800" b="0" i="0" u="none" strike="noStrike" kern="1200" dirty="0">
                          <a:solidFill>
                            <a:schemeClr val="dk1"/>
                          </a:solidFill>
                          <a:effectLst/>
                          <a:latin typeface="+mn-lt"/>
                          <a:ea typeface="+mn-ea"/>
                          <a:cs typeface="+mn-cs"/>
                        </a:rPr>
                        <a:t>Medically Underserved Area (MUA) </a:t>
                      </a:r>
                    </a:p>
                    <a:p>
                      <a:r>
                        <a:rPr lang="en-US" sz="1800" b="0" i="0" u="none" strike="noStrike" kern="1200" dirty="0">
                          <a:solidFill>
                            <a:schemeClr val="dk1"/>
                          </a:solidFill>
                          <a:effectLst/>
                          <a:latin typeface="+mn-lt"/>
                          <a:ea typeface="+mn-ea"/>
                          <a:cs typeface="+mn-cs"/>
                        </a:rPr>
                        <a:t>COVID-19 vaccine hesitancy collected via the </a:t>
                      </a:r>
                      <a:r>
                        <a:rPr lang="en-US" sz="1800" b="0" i="0" u="sng" strike="noStrike" kern="1200" dirty="0">
                          <a:solidFill>
                            <a:schemeClr val="dk1"/>
                          </a:solidFill>
                          <a:effectLst/>
                          <a:latin typeface="+mn-lt"/>
                          <a:ea typeface="+mn-ea"/>
                          <a:cs typeface="+mn-cs"/>
                          <a:hlinkClick r:id="rId5"/>
                        </a:rPr>
                        <a:t>Household Pulse Survey</a:t>
                      </a:r>
                      <a:endParaRPr lang="en-US" dirty="0"/>
                    </a:p>
                  </a:txBody>
                  <a:tcPr/>
                </a:tc>
                <a:extLst>
                  <a:ext uri="{0D108BD9-81ED-4DB2-BD59-A6C34878D82A}">
                    <a16:rowId xmlns:a16="http://schemas.microsoft.com/office/drawing/2014/main" val="280115854"/>
                  </a:ext>
                </a:extLst>
              </a:tr>
            </a:tbl>
          </a:graphicData>
        </a:graphic>
      </p:graphicFrame>
    </p:spTree>
    <p:extLst>
      <p:ext uri="{BB962C8B-B14F-4D97-AF65-F5344CB8AC3E}">
        <p14:creationId xmlns:p14="http://schemas.microsoft.com/office/powerpoint/2010/main" val="2157113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0A015-3BA6-15BA-5C85-6DC09DC31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E4E0E-D7E4-C8E7-A628-DBC0103ACD76}"/>
              </a:ext>
            </a:extLst>
          </p:cNvPr>
          <p:cNvSpPr>
            <a:spLocks noGrp="1"/>
          </p:cNvSpPr>
          <p:nvPr>
            <p:ph type="title"/>
          </p:nvPr>
        </p:nvSpPr>
        <p:spPr>
          <a:xfrm>
            <a:off x="2231136" y="360535"/>
            <a:ext cx="7729728" cy="1188720"/>
          </a:xfrm>
        </p:spPr>
        <p:txBody>
          <a:bodyPr/>
          <a:lstStyle/>
          <a:p>
            <a:r>
              <a:rPr lang="en-US" dirty="0"/>
              <a:t>Data wrangling: EDA</a:t>
            </a:r>
          </a:p>
        </p:txBody>
      </p:sp>
      <p:pic>
        <p:nvPicPr>
          <p:cNvPr id="5122" name="Picture 2">
            <a:extLst>
              <a:ext uri="{FF2B5EF4-FFF2-40B4-BE49-F238E27FC236}">
                <a16:creationId xmlns:a16="http://schemas.microsoft.com/office/drawing/2014/main" id="{AB3FC89A-B3D6-545A-5538-A0AA18ADCD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886"/>
          <a:stretch>
            <a:fillRect/>
          </a:stretch>
        </p:blipFill>
        <p:spPr bwMode="auto">
          <a:xfrm>
            <a:off x="571500" y="1830682"/>
            <a:ext cx="6475186" cy="488224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1E8C4C8B-E54E-5CF2-C824-9CF599A6E5B8}"/>
              </a:ext>
            </a:extLst>
          </p:cNvPr>
          <p:cNvSpPr>
            <a:spLocks noGrp="1"/>
          </p:cNvSpPr>
          <p:nvPr>
            <p:ph idx="1"/>
          </p:nvPr>
        </p:nvSpPr>
        <p:spPr>
          <a:xfrm>
            <a:off x="7467600" y="1830681"/>
            <a:ext cx="3864863" cy="4472147"/>
          </a:xfrm>
        </p:spPr>
        <p:txBody>
          <a:bodyPr>
            <a:normAutofit fontScale="92500"/>
          </a:bodyPr>
          <a:lstStyle/>
          <a:p>
            <a:r>
              <a:rPr lang="en-US" sz="2400" dirty="0"/>
              <a:t>Data is highly skewed towards 100% with the most variation in 2023</a:t>
            </a:r>
          </a:p>
          <a:p>
            <a:r>
              <a:rPr lang="en-US" sz="2400" dirty="0"/>
              <a:t>7 counties had missing MMR coverage rate values for at least one year and 3 counties – DeWitt, Loving, and McMullen were missing data for all four years </a:t>
            </a:r>
          </a:p>
          <a:p>
            <a:r>
              <a:rPr lang="en-US" sz="2400" dirty="0"/>
              <a:t>County x years with missing MMR coverage values were dropped from analysis</a:t>
            </a:r>
          </a:p>
          <a:p>
            <a:endParaRPr lang="en-US" sz="2400" dirty="0"/>
          </a:p>
          <a:p>
            <a:endParaRPr lang="en-US" sz="2400" dirty="0"/>
          </a:p>
          <a:p>
            <a:endParaRPr lang="en-US" sz="2400" dirty="0"/>
          </a:p>
        </p:txBody>
      </p:sp>
    </p:spTree>
    <p:extLst>
      <p:ext uri="{BB962C8B-B14F-4D97-AF65-F5344CB8AC3E}">
        <p14:creationId xmlns:p14="http://schemas.microsoft.com/office/powerpoint/2010/main" val="460352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10CA6-B907-A3FA-FC9A-DA998DCAB148}"/>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7FDF0171-86DE-F6F4-8C41-7F4435F2DF32}"/>
              </a:ext>
            </a:extLst>
          </p:cNvPr>
          <p:cNvSpPr>
            <a:spLocks noGrp="1"/>
          </p:cNvSpPr>
          <p:nvPr>
            <p:ph idx="1"/>
          </p:nvPr>
        </p:nvSpPr>
        <p:spPr>
          <a:xfrm>
            <a:off x="8137070" y="1814352"/>
            <a:ext cx="3864863" cy="4815047"/>
          </a:xfrm>
        </p:spPr>
        <p:txBody>
          <a:bodyPr>
            <a:normAutofit lnSpcReduction="10000"/>
          </a:bodyPr>
          <a:lstStyle/>
          <a:p>
            <a:r>
              <a:rPr lang="en-US" sz="2400" dirty="0"/>
              <a:t>Strong associations (collinearity) among several features relating to economics and household internet access</a:t>
            </a:r>
          </a:p>
          <a:p>
            <a:r>
              <a:rPr lang="en-US" sz="2400" dirty="0"/>
              <a:t>More moderate associations</a:t>
            </a:r>
          </a:p>
          <a:p>
            <a:pPr lvl="1"/>
            <a:r>
              <a:rPr lang="en-US" sz="2200" dirty="0"/>
              <a:t>between SVI and economic indicators as well as </a:t>
            </a:r>
          </a:p>
          <a:p>
            <a:pPr lvl="1"/>
            <a:r>
              <a:rPr lang="en-US" sz="2200" dirty="0"/>
              <a:t>between the % strongly hesitant to take COVID-19 vaccine and the infant mortality rate</a:t>
            </a:r>
          </a:p>
        </p:txBody>
      </p:sp>
      <p:pic>
        <p:nvPicPr>
          <p:cNvPr id="7170" name="Picture 2">
            <a:extLst>
              <a:ext uri="{FF2B5EF4-FFF2-40B4-BE49-F238E27FC236}">
                <a16:creationId xmlns:a16="http://schemas.microsoft.com/office/drawing/2014/main" id="{009C59C7-3959-1168-5792-9AE4B28CA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924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BF7F3510-2A68-1F4A-6E3D-F88AA42ECB38}"/>
              </a:ext>
            </a:extLst>
          </p:cNvPr>
          <p:cNvSpPr>
            <a:spLocks noGrp="1"/>
          </p:cNvSpPr>
          <p:nvPr>
            <p:ph type="title"/>
          </p:nvPr>
        </p:nvSpPr>
        <p:spPr>
          <a:xfrm>
            <a:off x="8137071" y="228602"/>
            <a:ext cx="3864863" cy="1110342"/>
          </a:xfrm>
        </p:spPr>
        <p:txBody>
          <a:bodyPr>
            <a:normAutofit fontScale="90000"/>
          </a:bodyPr>
          <a:lstStyle/>
          <a:p>
            <a:r>
              <a:rPr lang="en-US" dirty="0"/>
              <a:t>Correlation among POTENTIAL PREDICTORS</a:t>
            </a:r>
          </a:p>
        </p:txBody>
      </p:sp>
    </p:spTree>
    <p:extLst>
      <p:ext uri="{BB962C8B-B14F-4D97-AF65-F5344CB8AC3E}">
        <p14:creationId xmlns:p14="http://schemas.microsoft.com/office/powerpoint/2010/main" val="2830856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CBB4B-4BD7-5955-23B4-2C8FF1A94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D7286-5A33-C680-91AC-44390D78B615}"/>
              </a:ext>
            </a:extLst>
          </p:cNvPr>
          <p:cNvSpPr>
            <a:spLocks noGrp="1"/>
          </p:cNvSpPr>
          <p:nvPr>
            <p:ph type="title"/>
          </p:nvPr>
        </p:nvSpPr>
        <p:spPr>
          <a:xfrm>
            <a:off x="2231136" y="360535"/>
            <a:ext cx="7729728" cy="1188720"/>
          </a:xfrm>
        </p:spPr>
        <p:txBody>
          <a:bodyPr/>
          <a:lstStyle/>
          <a:p>
            <a:r>
              <a:rPr lang="en-US" dirty="0"/>
              <a:t>Data wrangling: imputation</a:t>
            </a:r>
          </a:p>
        </p:txBody>
      </p:sp>
      <p:sp>
        <p:nvSpPr>
          <p:cNvPr id="6" name="Content Placeholder 2">
            <a:extLst>
              <a:ext uri="{FF2B5EF4-FFF2-40B4-BE49-F238E27FC236}">
                <a16:creationId xmlns:a16="http://schemas.microsoft.com/office/drawing/2014/main" id="{C7F9C83F-B879-262A-8BB5-F83AA2E0533A}"/>
              </a:ext>
            </a:extLst>
          </p:cNvPr>
          <p:cNvSpPr>
            <a:spLocks noGrp="1"/>
          </p:cNvSpPr>
          <p:nvPr>
            <p:ph idx="1"/>
          </p:nvPr>
        </p:nvSpPr>
        <p:spPr>
          <a:xfrm>
            <a:off x="8065880" y="1882465"/>
            <a:ext cx="3864863" cy="4472147"/>
          </a:xfrm>
        </p:spPr>
        <p:txBody>
          <a:bodyPr>
            <a:normAutofit/>
          </a:bodyPr>
          <a:lstStyle/>
          <a:p>
            <a:pPr marL="457200" indent="-457200">
              <a:buFont typeface="+mj-lt"/>
              <a:buAutoNum type="arabicPeriod"/>
            </a:pPr>
            <a:r>
              <a:rPr lang="en-US" sz="2400" dirty="0"/>
              <a:t>County-specific imputation based on median for variables that changed &lt;3% over the years of available data</a:t>
            </a:r>
          </a:p>
          <a:p>
            <a:pPr marL="457200" indent="-457200">
              <a:buFont typeface="+mj-lt"/>
              <a:buAutoNum type="arabicPeriod"/>
            </a:pPr>
            <a:r>
              <a:rPr lang="en-US" sz="2400" dirty="0"/>
              <a:t>County-specific linear interpolation</a:t>
            </a:r>
          </a:p>
          <a:p>
            <a:pPr marL="457200" indent="-457200">
              <a:buFont typeface="+mj-lt"/>
              <a:buAutoNum type="arabicPeriod"/>
            </a:pPr>
            <a:r>
              <a:rPr lang="en-US" sz="2400" dirty="0"/>
              <a:t>Global imputation (not county-specific)</a:t>
            </a:r>
          </a:p>
          <a:p>
            <a:endParaRPr lang="en-US" sz="2400" dirty="0"/>
          </a:p>
          <a:p>
            <a:endParaRPr lang="en-US" sz="2400" dirty="0"/>
          </a:p>
          <a:p>
            <a:endParaRPr lang="en-US" sz="2400" dirty="0"/>
          </a:p>
        </p:txBody>
      </p:sp>
      <p:pic>
        <p:nvPicPr>
          <p:cNvPr id="8" name="Picture 7">
            <a:extLst>
              <a:ext uri="{FF2B5EF4-FFF2-40B4-BE49-F238E27FC236}">
                <a16:creationId xmlns:a16="http://schemas.microsoft.com/office/drawing/2014/main" id="{B039EC83-D04D-FDD4-B13E-06C28447CBE0}"/>
              </a:ext>
            </a:extLst>
          </p:cNvPr>
          <p:cNvPicPr>
            <a:picLocks noChangeAspect="1"/>
          </p:cNvPicPr>
          <p:nvPr/>
        </p:nvPicPr>
        <p:blipFill>
          <a:blip r:embed="rId3"/>
          <a:stretch>
            <a:fillRect/>
          </a:stretch>
        </p:blipFill>
        <p:spPr>
          <a:xfrm>
            <a:off x="261257" y="1882465"/>
            <a:ext cx="7772400" cy="4368577"/>
          </a:xfrm>
          <a:prstGeom prst="rect">
            <a:avLst/>
          </a:prstGeom>
        </p:spPr>
      </p:pic>
      <p:sp>
        <p:nvSpPr>
          <p:cNvPr id="9" name="Oval 8">
            <a:extLst>
              <a:ext uri="{FF2B5EF4-FFF2-40B4-BE49-F238E27FC236}">
                <a16:creationId xmlns:a16="http://schemas.microsoft.com/office/drawing/2014/main" id="{2BA7EDCE-FDC7-3D77-D165-53132D36FC4C}"/>
              </a:ext>
            </a:extLst>
          </p:cNvPr>
          <p:cNvSpPr/>
          <p:nvPr/>
        </p:nvSpPr>
        <p:spPr>
          <a:xfrm>
            <a:off x="1143000" y="3429000"/>
            <a:ext cx="97971" cy="1143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F843102-2A65-02E7-BD71-D1933BD01A8F}"/>
              </a:ext>
            </a:extLst>
          </p:cNvPr>
          <p:cNvSpPr/>
          <p:nvPr/>
        </p:nvSpPr>
        <p:spPr>
          <a:xfrm>
            <a:off x="2013868" y="3891651"/>
            <a:ext cx="97971" cy="1143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C032701-102E-3FF1-2F79-4AA0B6EE0FD9}"/>
              </a:ext>
            </a:extLst>
          </p:cNvPr>
          <p:cNvSpPr/>
          <p:nvPr/>
        </p:nvSpPr>
        <p:spPr>
          <a:xfrm>
            <a:off x="4381508" y="3401781"/>
            <a:ext cx="97971" cy="1143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57FE087-7807-34CB-99AF-29AD4D09D032}"/>
              </a:ext>
            </a:extLst>
          </p:cNvPr>
          <p:cNvSpPr/>
          <p:nvPr/>
        </p:nvSpPr>
        <p:spPr>
          <a:xfrm>
            <a:off x="4544784" y="3385453"/>
            <a:ext cx="97971" cy="1143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6E643DF-2CE5-53EA-D2CC-97DAA827E1BA}"/>
              </a:ext>
            </a:extLst>
          </p:cNvPr>
          <p:cNvSpPr/>
          <p:nvPr/>
        </p:nvSpPr>
        <p:spPr>
          <a:xfrm>
            <a:off x="3842659" y="2683322"/>
            <a:ext cx="97971" cy="1143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DAD0DE03-247F-5440-4BD2-51501A7EBFD4}"/>
              </a:ext>
            </a:extLst>
          </p:cNvPr>
          <p:cNvSpPr/>
          <p:nvPr/>
        </p:nvSpPr>
        <p:spPr>
          <a:xfrm>
            <a:off x="4005941" y="2699650"/>
            <a:ext cx="97971" cy="1143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45CFC32-8817-C01A-2519-1B2AE8DB376B}"/>
              </a:ext>
            </a:extLst>
          </p:cNvPr>
          <p:cNvSpPr/>
          <p:nvPr/>
        </p:nvSpPr>
        <p:spPr>
          <a:xfrm>
            <a:off x="2933700" y="2933694"/>
            <a:ext cx="97971" cy="1143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AF4CD38-648D-1C3E-B0B1-542108FBD0B3}"/>
              </a:ext>
            </a:extLst>
          </p:cNvPr>
          <p:cNvSpPr/>
          <p:nvPr/>
        </p:nvSpPr>
        <p:spPr>
          <a:xfrm>
            <a:off x="4729843" y="2786735"/>
            <a:ext cx="97971" cy="1143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0529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F25F1-9227-8FBF-15C7-536C3096D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3DE60-873E-AED9-823F-CB68414FF599}"/>
              </a:ext>
            </a:extLst>
          </p:cNvPr>
          <p:cNvSpPr>
            <a:spLocks noGrp="1"/>
          </p:cNvSpPr>
          <p:nvPr>
            <p:ph type="title"/>
          </p:nvPr>
        </p:nvSpPr>
        <p:spPr>
          <a:xfrm>
            <a:off x="2167672" y="230756"/>
            <a:ext cx="7729728" cy="1188720"/>
          </a:xfrm>
        </p:spPr>
        <p:txBody>
          <a:bodyPr/>
          <a:lstStyle/>
          <a:p>
            <a:r>
              <a:rPr lang="en-US" dirty="0"/>
              <a:t>Modeling: Correlates of coverage</a:t>
            </a:r>
          </a:p>
        </p:txBody>
      </p:sp>
      <p:sp>
        <p:nvSpPr>
          <p:cNvPr id="5" name="Rectangle 1">
            <a:extLst>
              <a:ext uri="{FF2B5EF4-FFF2-40B4-BE49-F238E27FC236}">
                <a16:creationId xmlns:a16="http://schemas.microsoft.com/office/drawing/2014/main" id="{70C16D9B-D8A3-8D23-843E-DE39C81EA5E8}"/>
              </a:ext>
            </a:extLst>
          </p:cNvPr>
          <p:cNvSpPr>
            <a:spLocks noChangeArrowheads="1"/>
          </p:cNvSpPr>
          <p:nvPr/>
        </p:nvSpPr>
        <p:spPr bwMode="auto">
          <a:xfrm>
            <a:off x="3132138" y="26146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Content Placeholder 2">
            <a:extLst>
              <a:ext uri="{FF2B5EF4-FFF2-40B4-BE49-F238E27FC236}">
                <a16:creationId xmlns:a16="http://schemas.microsoft.com/office/drawing/2014/main" id="{BC0F10E1-405D-0C92-A1C7-F5CEDC7CC9BF}"/>
              </a:ext>
            </a:extLst>
          </p:cNvPr>
          <p:cNvSpPr>
            <a:spLocks noGrp="1"/>
          </p:cNvSpPr>
          <p:nvPr>
            <p:ph idx="1"/>
          </p:nvPr>
        </p:nvSpPr>
        <p:spPr>
          <a:xfrm>
            <a:off x="5826369" y="2110965"/>
            <a:ext cx="4071031" cy="3996417"/>
          </a:xfrm>
        </p:spPr>
        <p:txBody>
          <a:bodyPr>
            <a:normAutofit/>
          </a:bodyPr>
          <a:lstStyle/>
          <a:p>
            <a:r>
              <a:rPr lang="en-US" sz="2400" dirty="0"/>
              <a:t>75/25 county split such that all years for a given county were either in train or test data sets</a:t>
            </a:r>
          </a:p>
          <a:p>
            <a:r>
              <a:rPr lang="en-US" sz="2400" dirty="0" err="1"/>
              <a:t>SelectKBest</a:t>
            </a:r>
            <a:endParaRPr lang="en-US" sz="2400" dirty="0"/>
          </a:p>
          <a:p>
            <a:r>
              <a:rPr lang="en-US" sz="2400" dirty="0"/>
              <a:t>Cross-validation (5 folds)</a:t>
            </a:r>
          </a:p>
          <a:p>
            <a:endParaRPr lang="en-US" sz="2400" dirty="0"/>
          </a:p>
          <a:p>
            <a:endParaRPr lang="en-US" sz="2400" dirty="0"/>
          </a:p>
        </p:txBody>
      </p:sp>
      <p:sp>
        <p:nvSpPr>
          <p:cNvPr id="7" name="TextBox 6">
            <a:extLst>
              <a:ext uri="{FF2B5EF4-FFF2-40B4-BE49-F238E27FC236}">
                <a16:creationId xmlns:a16="http://schemas.microsoft.com/office/drawing/2014/main" id="{4599513D-64CB-DA42-332A-63992F70B541}"/>
              </a:ext>
            </a:extLst>
          </p:cNvPr>
          <p:cNvSpPr txBox="1"/>
          <p:nvPr/>
        </p:nvSpPr>
        <p:spPr>
          <a:xfrm>
            <a:off x="2167671" y="1966050"/>
            <a:ext cx="5131199" cy="3046988"/>
          </a:xfrm>
          <a:prstGeom prst="rect">
            <a:avLst/>
          </a:prstGeom>
          <a:noFill/>
        </p:spPr>
        <p:txBody>
          <a:bodyPr wrap="square">
            <a:spAutoFit/>
          </a:bodyPr>
          <a:lstStyle/>
          <a:p>
            <a:pPr marL="342900" indent="-342900">
              <a:buFont typeface="+mj-lt"/>
              <a:buAutoNum type="arabicPeriod"/>
            </a:pPr>
            <a:r>
              <a:rPr lang="en-US" sz="3200" dirty="0"/>
              <a:t>Linear Regressor</a:t>
            </a:r>
          </a:p>
          <a:p>
            <a:pPr marL="342900" indent="-342900">
              <a:buFont typeface="+mj-lt"/>
              <a:buAutoNum type="arabicPeriod"/>
            </a:pPr>
            <a:r>
              <a:rPr lang="en-US" sz="3200" dirty="0"/>
              <a:t>OLS</a:t>
            </a:r>
          </a:p>
          <a:p>
            <a:pPr marL="342900" indent="-342900">
              <a:buFont typeface="+mj-lt"/>
              <a:buAutoNum type="arabicPeriod"/>
            </a:pPr>
            <a:r>
              <a:rPr lang="en-US" sz="3200" dirty="0"/>
              <a:t>Ridge</a:t>
            </a:r>
          </a:p>
          <a:p>
            <a:pPr marL="342900" indent="-342900">
              <a:buFont typeface="+mj-lt"/>
              <a:buAutoNum type="arabicPeriod"/>
            </a:pPr>
            <a:r>
              <a:rPr lang="en-US" sz="3200" dirty="0" err="1"/>
              <a:t>XGBoost</a:t>
            </a:r>
            <a:endParaRPr lang="en-US" sz="3200" dirty="0"/>
          </a:p>
          <a:p>
            <a:pPr marL="342900" indent="-342900">
              <a:buFont typeface="+mj-lt"/>
              <a:buAutoNum type="arabicPeriod"/>
            </a:pPr>
            <a:r>
              <a:rPr lang="en-US" sz="3200" dirty="0"/>
              <a:t>RandomForest</a:t>
            </a:r>
          </a:p>
          <a:p>
            <a:pPr marL="342900" indent="-342900">
              <a:buFont typeface="+mj-lt"/>
              <a:buAutoNum type="arabicPeriod"/>
            </a:pPr>
            <a:endParaRPr lang="en-US" sz="3200" dirty="0"/>
          </a:p>
        </p:txBody>
      </p:sp>
    </p:spTree>
    <p:extLst>
      <p:ext uri="{BB962C8B-B14F-4D97-AF65-F5344CB8AC3E}">
        <p14:creationId xmlns:p14="http://schemas.microsoft.com/office/powerpoint/2010/main" val="2769199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3B0FC-68C2-E62F-604A-EE6477E839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CACCA-4616-72AE-4017-D226C88AA8EF}"/>
              </a:ext>
            </a:extLst>
          </p:cNvPr>
          <p:cNvSpPr>
            <a:spLocks noGrp="1"/>
          </p:cNvSpPr>
          <p:nvPr>
            <p:ph type="title"/>
          </p:nvPr>
        </p:nvSpPr>
        <p:spPr>
          <a:xfrm>
            <a:off x="2167672" y="230756"/>
            <a:ext cx="7729728" cy="1188720"/>
          </a:xfrm>
        </p:spPr>
        <p:txBody>
          <a:bodyPr/>
          <a:lstStyle/>
          <a:p>
            <a:r>
              <a:rPr lang="en-US" dirty="0"/>
              <a:t>Modeling: Correlates of coverage</a:t>
            </a:r>
          </a:p>
        </p:txBody>
      </p:sp>
      <p:sp>
        <p:nvSpPr>
          <p:cNvPr id="5" name="Rectangle 1">
            <a:extLst>
              <a:ext uri="{FF2B5EF4-FFF2-40B4-BE49-F238E27FC236}">
                <a16:creationId xmlns:a16="http://schemas.microsoft.com/office/drawing/2014/main" id="{4AB7A220-FF9B-AAC8-0287-7AB6337DACD4}"/>
              </a:ext>
            </a:extLst>
          </p:cNvPr>
          <p:cNvSpPr>
            <a:spLocks noChangeArrowheads="1"/>
          </p:cNvSpPr>
          <p:nvPr/>
        </p:nvSpPr>
        <p:spPr bwMode="auto">
          <a:xfrm>
            <a:off x="3132138" y="26146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Content Placeholder 2">
            <a:extLst>
              <a:ext uri="{FF2B5EF4-FFF2-40B4-BE49-F238E27FC236}">
                <a16:creationId xmlns:a16="http://schemas.microsoft.com/office/drawing/2014/main" id="{68613C1B-D6A1-476A-60AD-9B69352B3820}"/>
              </a:ext>
            </a:extLst>
          </p:cNvPr>
          <p:cNvSpPr>
            <a:spLocks noGrp="1"/>
          </p:cNvSpPr>
          <p:nvPr>
            <p:ph idx="1"/>
          </p:nvPr>
        </p:nvSpPr>
        <p:spPr>
          <a:xfrm>
            <a:off x="7707085" y="1784394"/>
            <a:ext cx="2579915" cy="3996417"/>
          </a:xfrm>
        </p:spPr>
        <p:txBody>
          <a:bodyPr>
            <a:normAutofit/>
          </a:bodyPr>
          <a:lstStyle/>
          <a:p>
            <a:r>
              <a:rPr lang="en-US" sz="2400" dirty="0"/>
              <a:t>Hyperparameter tuning results for 3 models are shown to the left bolded and underlined</a:t>
            </a:r>
            <a:endParaRPr lang="en-US" sz="2400" b="1" u="sng" dirty="0"/>
          </a:p>
          <a:p>
            <a:endParaRPr lang="en-US" sz="2400" dirty="0"/>
          </a:p>
          <a:p>
            <a:endParaRPr lang="en-US" sz="2400" dirty="0"/>
          </a:p>
          <a:p>
            <a:endParaRPr lang="en-US" sz="2400" dirty="0"/>
          </a:p>
        </p:txBody>
      </p:sp>
      <p:sp>
        <p:nvSpPr>
          <p:cNvPr id="7" name="TextBox 6">
            <a:extLst>
              <a:ext uri="{FF2B5EF4-FFF2-40B4-BE49-F238E27FC236}">
                <a16:creationId xmlns:a16="http://schemas.microsoft.com/office/drawing/2014/main" id="{8666455A-0496-D637-2127-F4A297809293}"/>
              </a:ext>
            </a:extLst>
          </p:cNvPr>
          <p:cNvSpPr txBox="1"/>
          <p:nvPr/>
        </p:nvSpPr>
        <p:spPr>
          <a:xfrm>
            <a:off x="651784" y="1419476"/>
            <a:ext cx="7666264" cy="5909310"/>
          </a:xfrm>
          <a:prstGeom prst="rect">
            <a:avLst/>
          </a:prstGeom>
          <a:noFill/>
        </p:spPr>
        <p:txBody>
          <a:bodyPr wrap="square">
            <a:spAutoFit/>
          </a:bodyPr>
          <a:lstStyle/>
          <a:p>
            <a:pPr marL="285750" indent="-285750">
              <a:buFont typeface="Arial" panose="020B0604020202020204" pitchFamily="34" charset="0"/>
              <a:buChar char="•"/>
            </a:pPr>
            <a:r>
              <a:rPr lang="en-US" b="1" dirty="0"/>
              <a:t>Ridge</a:t>
            </a:r>
          </a:p>
          <a:p>
            <a:r>
              <a:rPr lang="en-US" dirty="0" err="1"/>
              <a:t>param_grid</a:t>
            </a:r>
            <a:r>
              <a:rPr lang="en-US" dirty="0"/>
              <a:t> = {</a:t>
            </a:r>
          </a:p>
          <a:p>
            <a:r>
              <a:rPr lang="en-US" dirty="0"/>
              <a:t>    </a:t>
            </a:r>
            <a:r>
              <a:rPr lang="en-US" dirty="0">
                <a:solidFill>
                  <a:srgbClr val="FF0000"/>
                </a:solidFill>
              </a:rPr>
              <a:t>'</a:t>
            </a:r>
            <a:r>
              <a:rPr lang="en-US" dirty="0" err="1">
                <a:solidFill>
                  <a:srgbClr val="FF0000"/>
                </a:solidFill>
              </a:rPr>
              <a:t>feature_selection__k</a:t>
            </a:r>
            <a:r>
              <a:rPr lang="en-US" dirty="0">
                <a:solidFill>
                  <a:srgbClr val="FF0000"/>
                </a:solidFill>
              </a:rPr>
              <a:t>': </a:t>
            </a:r>
            <a:r>
              <a:rPr lang="en-US" dirty="0"/>
              <a:t>[</a:t>
            </a:r>
            <a:r>
              <a:rPr lang="en-US" dirty="0">
                <a:solidFill>
                  <a:srgbClr val="00B050"/>
                </a:solidFill>
              </a:rPr>
              <a:t>5, 10, 20, </a:t>
            </a:r>
            <a:r>
              <a:rPr lang="en-US" b="1" u="sng" dirty="0">
                <a:solidFill>
                  <a:srgbClr val="00B050"/>
                </a:solidFill>
              </a:rPr>
              <a:t>30</a:t>
            </a:r>
            <a:r>
              <a:rPr lang="en-US" dirty="0"/>
              <a:t>, </a:t>
            </a:r>
            <a:r>
              <a:rPr lang="en-US" dirty="0">
                <a:solidFill>
                  <a:srgbClr val="FF0000"/>
                </a:solidFill>
              </a:rPr>
              <a:t>'all</a:t>
            </a:r>
            <a:r>
              <a:rPr lang="en-US" dirty="0"/>
              <a:t>'], </a:t>
            </a:r>
          </a:p>
          <a:p>
            <a:r>
              <a:rPr lang="en-US" dirty="0"/>
              <a:t>    </a:t>
            </a:r>
            <a:r>
              <a:rPr lang="en-US" dirty="0">
                <a:solidFill>
                  <a:srgbClr val="FF0000"/>
                </a:solidFill>
              </a:rPr>
              <a:t>'</a:t>
            </a:r>
            <a:r>
              <a:rPr lang="en-US" dirty="0" err="1">
                <a:solidFill>
                  <a:srgbClr val="FF0000"/>
                </a:solidFill>
              </a:rPr>
              <a:t>ridge__alpha</a:t>
            </a:r>
            <a:r>
              <a:rPr lang="en-US" dirty="0"/>
              <a:t>': [</a:t>
            </a:r>
            <a:r>
              <a:rPr lang="en-US" dirty="0">
                <a:solidFill>
                  <a:srgbClr val="00B050"/>
                </a:solidFill>
              </a:rPr>
              <a:t>0.1</a:t>
            </a:r>
            <a:r>
              <a:rPr lang="en-US" dirty="0"/>
              <a:t>, </a:t>
            </a:r>
            <a:r>
              <a:rPr lang="en-US" dirty="0">
                <a:solidFill>
                  <a:srgbClr val="00B050"/>
                </a:solidFill>
              </a:rPr>
              <a:t>1</a:t>
            </a:r>
            <a:r>
              <a:rPr lang="en-US" dirty="0"/>
              <a:t>, </a:t>
            </a:r>
            <a:r>
              <a:rPr lang="en-US" dirty="0">
                <a:solidFill>
                  <a:srgbClr val="00B050"/>
                </a:solidFill>
              </a:rPr>
              <a:t>10</a:t>
            </a:r>
            <a:r>
              <a:rPr lang="en-US" dirty="0"/>
              <a:t>, </a:t>
            </a:r>
            <a:r>
              <a:rPr lang="en-US" dirty="0">
                <a:solidFill>
                  <a:srgbClr val="00B050"/>
                </a:solidFill>
              </a:rPr>
              <a:t>100</a:t>
            </a:r>
            <a:r>
              <a:rPr lang="en-US" dirty="0"/>
              <a:t>, </a:t>
            </a:r>
            <a:r>
              <a:rPr lang="en-US" b="1" u="sng" dirty="0">
                <a:solidFill>
                  <a:srgbClr val="00B050"/>
                </a:solidFill>
              </a:rPr>
              <a:t>1000</a:t>
            </a:r>
            <a:r>
              <a:rPr lang="en-US" dirty="0"/>
              <a:t>, </a:t>
            </a:r>
            <a:r>
              <a:rPr lang="en-US" dirty="0">
                <a:solidFill>
                  <a:srgbClr val="00B050"/>
                </a:solidFill>
              </a:rPr>
              <a:t>10000</a:t>
            </a:r>
            <a:r>
              <a:rPr lang="en-US" dirty="0"/>
              <a:t>, </a:t>
            </a:r>
            <a:r>
              <a:rPr lang="en-US" dirty="0">
                <a:solidFill>
                  <a:srgbClr val="00B050"/>
                </a:solidFill>
              </a:rPr>
              <a:t>1000000</a:t>
            </a:r>
            <a:r>
              <a:rPr lang="en-US" dirty="0"/>
              <a:t>]</a:t>
            </a:r>
          </a:p>
          <a:p>
            <a:r>
              <a:rPr lang="en-US" dirty="0"/>
              <a:t>}</a:t>
            </a:r>
          </a:p>
          <a:p>
            <a:pPr marL="285750" indent="-285750">
              <a:buFont typeface="Arial" panose="020B0604020202020204" pitchFamily="34" charset="0"/>
              <a:buChar char="•"/>
            </a:pPr>
            <a:r>
              <a:rPr lang="en-US" b="1" dirty="0" err="1"/>
              <a:t>XGBoost</a:t>
            </a:r>
            <a:endParaRPr lang="en-US" b="1" dirty="0"/>
          </a:p>
          <a:p>
            <a:r>
              <a:rPr lang="en-US" dirty="0" err="1"/>
              <a:t>param_grid</a:t>
            </a:r>
            <a:r>
              <a:rPr lang="en-US" dirty="0"/>
              <a:t> = {</a:t>
            </a:r>
          </a:p>
          <a:p>
            <a:r>
              <a:rPr lang="en-US" dirty="0"/>
              <a:t>    </a:t>
            </a:r>
            <a:r>
              <a:rPr lang="en-US" dirty="0">
                <a:solidFill>
                  <a:srgbClr val="FF0000"/>
                </a:solidFill>
              </a:rPr>
              <a:t>'</a:t>
            </a:r>
            <a:r>
              <a:rPr lang="en-US" dirty="0" err="1">
                <a:solidFill>
                  <a:srgbClr val="FF0000"/>
                </a:solidFill>
              </a:rPr>
              <a:t>regressor__alpha</a:t>
            </a:r>
            <a:r>
              <a:rPr lang="en-US" dirty="0"/>
              <a:t>': [</a:t>
            </a:r>
            <a:r>
              <a:rPr lang="en-US" dirty="0">
                <a:solidFill>
                  <a:srgbClr val="00B050"/>
                </a:solidFill>
              </a:rPr>
              <a:t>0.1, 1.0, </a:t>
            </a:r>
            <a:r>
              <a:rPr lang="en-US" b="1" u="sng" dirty="0">
                <a:solidFill>
                  <a:srgbClr val="00B050"/>
                </a:solidFill>
              </a:rPr>
              <a:t>10.0</a:t>
            </a:r>
            <a:r>
              <a:rPr lang="en-US" dirty="0">
                <a:solidFill>
                  <a:srgbClr val="00B050"/>
                </a:solidFill>
              </a:rPr>
              <a:t>, 100.0, 1000.0, 10000.0, 1000000</a:t>
            </a:r>
            <a:r>
              <a:rPr lang="en-US" dirty="0"/>
              <a:t>],</a:t>
            </a:r>
          </a:p>
          <a:p>
            <a:r>
              <a:rPr lang="en-US" dirty="0"/>
              <a:t>    </a:t>
            </a:r>
            <a:r>
              <a:rPr lang="en-US" dirty="0">
                <a:solidFill>
                  <a:srgbClr val="FF0000"/>
                </a:solidFill>
              </a:rPr>
              <a:t>'regressor__</a:t>
            </a:r>
            <a:r>
              <a:rPr lang="en-US" dirty="0" err="1">
                <a:solidFill>
                  <a:srgbClr val="FF0000"/>
                </a:solidFill>
              </a:rPr>
              <a:t>max_depth</a:t>
            </a:r>
            <a:r>
              <a:rPr lang="en-US" dirty="0"/>
              <a:t>': [</a:t>
            </a:r>
            <a:r>
              <a:rPr lang="en-US" b="1" u="sng" dirty="0">
                <a:solidFill>
                  <a:srgbClr val="00B050"/>
                </a:solidFill>
              </a:rPr>
              <a:t>2</a:t>
            </a:r>
            <a:r>
              <a:rPr lang="en-US" dirty="0">
                <a:solidFill>
                  <a:srgbClr val="00B050"/>
                </a:solidFill>
              </a:rPr>
              <a:t>, 6, 10, 14</a:t>
            </a:r>
            <a:r>
              <a:rPr lang="en-US" dirty="0"/>
              <a:t>],</a:t>
            </a:r>
          </a:p>
          <a:p>
            <a:r>
              <a:rPr lang="en-US" dirty="0"/>
              <a:t>    </a:t>
            </a:r>
            <a:r>
              <a:rPr lang="en-US" dirty="0">
                <a:solidFill>
                  <a:srgbClr val="FF0000"/>
                </a:solidFill>
              </a:rPr>
              <a:t>'</a:t>
            </a:r>
            <a:r>
              <a:rPr lang="en-US" dirty="0" err="1">
                <a:solidFill>
                  <a:srgbClr val="FF0000"/>
                </a:solidFill>
              </a:rPr>
              <a:t>regressor__eta</a:t>
            </a:r>
            <a:r>
              <a:rPr lang="en-US" dirty="0"/>
              <a:t>': [</a:t>
            </a:r>
            <a:r>
              <a:rPr lang="en-US" b="1" u="sng" dirty="0">
                <a:solidFill>
                  <a:srgbClr val="00B050"/>
                </a:solidFill>
              </a:rPr>
              <a:t>0.5</a:t>
            </a:r>
            <a:r>
              <a:rPr lang="en-US" dirty="0">
                <a:solidFill>
                  <a:srgbClr val="00B050"/>
                </a:solidFill>
              </a:rPr>
              <a:t>, 1.0, 1.5</a:t>
            </a:r>
            <a:r>
              <a:rPr lang="en-US" dirty="0"/>
              <a:t>]</a:t>
            </a:r>
          </a:p>
          <a:p>
            <a:r>
              <a:rPr lang="en-US" dirty="0"/>
              <a:t>}</a:t>
            </a:r>
          </a:p>
          <a:p>
            <a:pPr marL="285750" indent="-285750">
              <a:buFont typeface="Arial" panose="020B0604020202020204" pitchFamily="34" charset="0"/>
              <a:buChar char="•"/>
            </a:pPr>
            <a:r>
              <a:rPr lang="en-US" b="1" dirty="0"/>
              <a:t>RandomForest</a:t>
            </a:r>
          </a:p>
          <a:p>
            <a:r>
              <a:rPr lang="en-US" dirty="0" err="1"/>
              <a:t>param_grid</a:t>
            </a:r>
            <a:r>
              <a:rPr lang="en-US" dirty="0"/>
              <a:t> = {</a:t>
            </a:r>
          </a:p>
          <a:p>
            <a:r>
              <a:rPr lang="en-US" dirty="0"/>
              <a:t>    </a:t>
            </a:r>
            <a:r>
              <a:rPr lang="en-US" dirty="0">
                <a:solidFill>
                  <a:srgbClr val="FF0000"/>
                </a:solidFill>
              </a:rPr>
              <a:t>'regressor__</a:t>
            </a:r>
            <a:r>
              <a:rPr lang="en-US" dirty="0" err="1">
                <a:solidFill>
                  <a:srgbClr val="FF0000"/>
                </a:solidFill>
              </a:rPr>
              <a:t>min_samples_leaf</a:t>
            </a:r>
            <a:r>
              <a:rPr lang="en-US" dirty="0"/>
              <a:t>': [</a:t>
            </a:r>
            <a:r>
              <a:rPr lang="en-US" dirty="0">
                <a:solidFill>
                  <a:srgbClr val="00B050"/>
                </a:solidFill>
              </a:rPr>
              <a:t>1,</a:t>
            </a:r>
            <a:r>
              <a:rPr lang="en-US" b="1" u="sng" dirty="0">
                <a:solidFill>
                  <a:srgbClr val="00B050"/>
                </a:solidFill>
              </a:rPr>
              <a:t>3</a:t>
            </a:r>
            <a:r>
              <a:rPr lang="en-US" dirty="0">
                <a:solidFill>
                  <a:srgbClr val="00B050"/>
                </a:solidFill>
              </a:rPr>
              <a:t>,5</a:t>
            </a:r>
            <a:r>
              <a:rPr lang="en-US" dirty="0"/>
              <a:t>],</a:t>
            </a:r>
          </a:p>
          <a:p>
            <a:r>
              <a:rPr lang="en-US" dirty="0"/>
              <a:t>    </a:t>
            </a:r>
            <a:r>
              <a:rPr lang="en-US" dirty="0">
                <a:solidFill>
                  <a:srgbClr val="FF0000"/>
                </a:solidFill>
              </a:rPr>
              <a:t>'regressor__</a:t>
            </a:r>
            <a:r>
              <a:rPr lang="en-US" dirty="0" err="1">
                <a:solidFill>
                  <a:srgbClr val="FF0000"/>
                </a:solidFill>
              </a:rPr>
              <a:t>max_depth</a:t>
            </a:r>
            <a:r>
              <a:rPr lang="en-US" dirty="0"/>
              <a:t>': [</a:t>
            </a:r>
            <a:r>
              <a:rPr lang="en-US" b="1" u="sng" dirty="0">
                <a:solidFill>
                  <a:srgbClr val="00B050"/>
                </a:solidFill>
              </a:rPr>
              <a:t>2</a:t>
            </a:r>
            <a:r>
              <a:rPr lang="en-US" dirty="0">
                <a:solidFill>
                  <a:srgbClr val="00B050"/>
                </a:solidFill>
              </a:rPr>
              <a:t>, 6, 10, 14</a:t>
            </a:r>
            <a:r>
              <a:rPr lang="en-US" dirty="0"/>
              <a:t>],</a:t>
            </a:r>
          </a:p>
          <a:p>
            <a:r>
              <a:rPr lang="en-US" dirty="0"/>
              <a:t>    '</a:t>
            </a:r>
            <a:r>
              <a:rPr lang="en-US" dirty="0">
                <a:solidFill>
                  <a:srgbClr val="FF0000"/>
                </a:solidFill>
              </a:rPr>
              <a:t>regressor__</a:t>
            </a:r>
            <a:r>
              <a:rPr lang="en-US" dirty="0" err="1">
                <a:solidFill>
                  <a:srgbClr val="FF0000"/>
                </a:solidFill>
              </a:rPr>
              <a:t>min_samples_split</a:t>
            </a:r>
            <a:r>
              <a:rPr lang="en-US" dirty="0"/>
              <a:t>': [</a:t>
            </a:r>
            <a:r>
              <a:rPr lang="en-US" b="1" u="sng" dirty="0">
                <a:solidFill>
                  <a:srgbClr val="00B050"/>
                </a:solidFill>
              </a:rPr>
              <a:t>2</a:t>
            </a:r>
            <a:r>
              <a:rPr lang="en-US" dirty="0">
                <a:solidFill>
                  <a:srgbClr val="00B050"/>
                </a:solidFill>
              </a:rPr>
              <a:t>, 5, 8</a:t>
            </a:r>
            <a:r>
              <a:rPr lang="en-US" dirty="0"/>
              <a:t>],</a:t>
            </a:r>
          </a:p>
          <a:p>
            <a:r>
              <a:rPr lang="en-US" dirty="0"/>
              <a:t>    </a:t>
            </a:r>
            <a:r>
              <a:rPr lang="en-US" dirty="0">
                <a:solidFill>
                  <a:srgbClr val="FF0000"/>
                </a:solidFill>
              </a:rPr>
              <a:t>'regressor__</a:t>
            </a:r>
            <a:r>
              <a:rPr lang="en-US" dirty="0" err="1">
                <a:solidFill>
                  <a:srgbClr val="FF0000"/>
                </a:solidFill>
              </a:rPr>
              <a:t>max_features</a:t>
            </a:r>
            <a:r>
              <a:rPr lang="en-US" dirty="0"/>
              <a:t>': ["sqrt", "</a:t>
            </a:r>
            <a:r>
              <a:rPr lang="en-US" b="1" u="sng" dirty="0"/>
              <a:t>log2</a:t>
            </a:r>
            <a:r>
              <a:rPr lang="en-US" dirty="0"/>
              <a:t>"],</a:t>
            </a:r>
          </a:p>
          <a:p>
            <a:r>
              <a:rPr lang="en-US" dirty="0"/>
              <a:t>    </a:t>
            </a:r>
            <a:r>
              <a:rPr lang="en-US" dirty="0">
                <a:solidFill>
                  <a:srgbClr val="FF0000"/>
                </a:solidFill>
              </a:rPr>
              <a:t>'regressor__</a:t>
            </a:r>
            <a:r>
              <a:rPr lang="en-US" dirty="0" err="1">
                <a:solidFill>
                  <a:srgbClr val="FF0000"/>
                </a:solidFill>
              </a:rPr>
              <a:t>n_estimators</a:t>
            </a:r>
            <a:r>
              <a:rPr lang="en-US" dirty="0"/>
              <a:t>': [</a:t>
            </a:r>
            <a:r>
              <a:rPr lang="en-US" dirty="0">
                <a:solidFill>
                  <a:srgbClr val="00B050"/>
                </a:solidFill>
              </a:rPr>
              <a:t>100,</a:t>
            </a:r>
            <a:r>
              <a:rPr lang="en-US" b="1" u="sng" dirty="0">
                <a:solidFill>
                  <a:srgbClr val="00B050"/>
                </a:solidFill>
              </a:rPr>
              <a:t>150</a:t>
            </a:r>
            <a:r>
              <a:rPr lang="en-US" dirty="0">
                <a:solidFill>
                  <a:srgbClr val="00B050"/>
                </a:solidFill>
              </a:rPr>
              <a:t>,200</a:t>
            </a:r>
            <a:r>
              <a:rPr lang="en-US" dirty="0"/>
              <a:t>],</a:t>
            </a:r>
          </a:p>
          <a:p>
            <a:r>
              <a:rPr lang="en-US" dirty="0"/>
              <a:t>}</a:t>
            </a:r>
          </a:p>
          <a:p>
            <a:endParaRPr lang="en-US" dirty="0"/>
          </a:p>
          <a:p>
            <a:endParaRPr lang="en-US" dirty="0"/>
          </a:p>
        </p:txBody>
      </p:sp>
    </p:spTree>
    <p:extLst>
      <p:ext uri="{BB962C8B-B14F-4D97-AF65-F5344CB8AC3E}">
        <p14:creationId xmlns:p14="http://schemas.microsoft.com/office/powerpoint/2010/main" val="2109473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FE7E-B2F9-5A6C-8D5E-FC1037C64E66}"/>
              </a:ext>
            </a:extLst>
          </p:cNvPr>
          <p:cNvSpPr>
            <a:spLocks noGrp="1"/>
          </p:cNvSpPr>
          <p:nvPr>
            <p:ph type="title"/>
          </p:nvPr>
        </p:nvSpPr>
        <p:spPr/>
        <p:txBody>
          <a:bodyPr/>
          <a:lstStyle/>
          <a:p>
            <a:r>
              <a:rPr lang="en-US" dirty="0"/>
              <a:t>Modeling: Correlates of coverage</a:t>
            </a:r>
          </a:p>
        </p:txBody>
      </p:sp>
      <p:graphicFrame>
        <p:nvGraphicFramePr>
          <p:cNvPr id="4" name="Table 3">
            <a:extLst>
              <a:ext uri="{FF2B5EF4-FFF2-40B4-BE49-F238E27FC236}">
                <a16:creationId xmlns:a16="http://schemas.microsoft.com/office/drawing/2014/main" id="{20391D76-42A4-98A8-FEB6-7D915DCAC387}"/>
              </a:ext>
            </a:extLst>
          </p:cNvPr>
          <p:cNvGraphicFramePr>
            <a:graphicFrameLocks noGrp="1"/>
          </p:cNvGraphicFramePr>
          <p:nvPr>
            <p:extLst>
              <p:ext uri="{D42A27DB-BD31-4B8C-83A1-F6EECF244321}">
                <p14:modId xmlns:p14="http://schemas.microsoft.com/office/powerpoint/2010/main" val="1202462596"/>
              </p:ext>
            </p:extLst>
          </p:nvPr>
        </p:nvGraphicFramePr>
        <p:xfrm>
          <a:off x="1469571" y="2367643"/>
          <a:ext cx="9682841" cy="3748015"/>
        </p:xfrm>
        <a:graphic>
          <a:graphicData uri="http://schemas.openxmlformats.org/drawingml/2006/table">
            <a:tbl>
              <a:tblPr/>
              <a:tblGrid>
                <a:gridCol w="2548911">
                  <a:extLst>
                    <a:ext uri="{9D8B030D-6E8A-4147-A177-3AD203B41FA5}">
                      <a16:colId xmlns:a16="http://schemas.microsoft.com/office/drawing/2014/main" val="1243668259"/>
                    </a:ext>
                  </a:extLst>
                </a:gridCol>
                <a:gridCol w="1643971">
                  <a:extLst>
                    <a:ext uri="{9D8B030D-6E8A-4147-A177-3AD203B41FA5}">
                      <a16:colId xmlns:a16="http://schemas.microsoft.com/office/drawing/2014/main" val="2568292200"/>
                    </a:ext>
                  </a:extLst>
                </a:gridCol>
                <a:gridCol w="1508231">
                  <a:extLst>
                    <a:ext uri="{9D8B030D-6E8A-4147-A177-3AD203B41FA5}">
                      <a16:colId xmlns:a16="http://schemas.microsoft.com/office/drawing/2014/main" val="805344343"/>
                    </a:ext>
                  </a:extLst>
                </a:gridCol>
                <a:gridCol w="1643971">
                  <a:extLst>
                    <a:ext uri="{9D8B030D-6E8A-4147-A177-3AD203B41FA5}">
                      <a16:colId xmlns:a16="http://schemas.microsoft.com/office/drawing/2014/main" val="192884927"/>
                    </a:ext>
                  </a:extLst>
                </a:gridCol>
                <a:gridCol w="2337757">
                  <a:extLst>
                    <a:ext uri="{9D8B030D-6E8A-4147-A177-3AD203B41FA5}">
                      <a16:colId xmlns:a16="http://schemas.microsoft.com/office/drawing/2014/main" val="1879129074"/>
                    </a:ext>
                  </a:extLst>
                </a:gridCol>
              </a:tblGrid>
              <a:tr h="447957">
                <a:tc gridSpan="5">
                  <a:txBody>
                    <a:bodyPr/>
                    <a:lstStyle/>
                    <a:p>
                      <a:pPr rtl="0" fontAlgn="t">
                        <a:buNone/>
                      </a:pPr>
                      <a:r>
                        <a:rPr lang="en-US" sz="2000" b="1" i="0" u="none" strike="noStrike">
                          <a:solidFill>
                            <a:srgbClr val="000000"/>
                          </a:solidFill>
                          <a:effectLst/>
                          <a:latin typeface="Arial" panose="020B0604020202020204" pitchFamily="34" charset="0"/>
                        </a:rPr>
                        <a:t>Table 1: Model metrics for estimating new county MMR coverage rates</a:t>
                      </a:r>
                      <a:endParaRPr lang="en-US" sz="20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95901650"/>
                  </a:ext>
                </a:extLst>
              </a:tr>
              <a:tr h="315237">
                <a:tc rowSpan="2">
                  <a:txBody>
                    <a:bodyPr/>
                    <a:lstStyle/>
                    <a:p>
                      <a:pPr algn="ctr" rtl="0" fontAlgn="t">
                        <a:buNone/>
                      </a:pPr>
                      <a:r>
                        <a:rPr lang="en-US" sz="2000" b="1" i="0" u="none" strike="noStrike">
                          <a:solidFill>
                            <a:srgbClr val="000000"/>
                          </a:solidFill>
                          <a:effectLst/>
                          <a:latin typeface="Arial" panose="020B0604020202020204" pitchFamily="34" charset="0"/>
                        </a:rPr>
                        <a:t>Model</a:t>
                      </a:r>
                      <a:endParaRPr lang="en-US" sz="20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E2F3"/>
                    </a:solidFill>
                  </a:tcPr>
                </a:tc>
                <a:tc gridSpan="2">
                  <a:txBody>
                    <a:bodyPr/>
                    <a:lstStyle/>
                    <a:p>
                      <a:pPr algn="ctr" rtl="0" fontAlgn="t">
                        <a:buNone/>
                      </a:pPr>
                      <a:r>
                        <a:rPr lang="en-US" sz="2000" b="1" i="0" u="none" strike="noStrike" dirty="0">
                          <a:solidFill>
                            <a:srgbClr val="000000"/>
                          </a:solidFill>
                          <a:effectLst/>
                          <a:latin typeface="Arial" panose="020B0604020202020204" pitchFamily="34" charset="0"/>
                        </a:rPr>
                        <a:t>Training data</a:t>
                      </a:r>
                      <a:endParaRPr lang="en-US" sz="20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E2F3"/>
                    </a:solidFill>
                  </a:tcPr>
                </a:tc>
                <a:tc hMerge="1">
                  <a:txBody>
                    <a:bodyPr/>
                    <a:lstStyle/>
                    <a:p>
                      <a:endParaRPr lang="en-US"/>
                    </a:p>
                  </a:txBody>
                  <a:tcPr/>
                </a:tc>
                <a:tc gridSpan="2">
                  <a:txBody>
                    <a:bodyPr/>
                    <a:lstStyle/>
                    <a:p>
                      <a:pPr algn="ctr" rtl="0" fontAlgn="t">
                        <a:buNone/>
                      </a:pPr>
                      <a:r>
                        <a:rPr lang="en-US" sz="2000" b="1" i="0" u="none" strike="noStrike">
                          <a:solidFill>
                            <a:srgbClr val="000000"/>
                          </a:solidFill>
                          <a:effectLst/>
                          <a:latin typeface="Arial" panose="020B0604020202020204" pitchFamily="34" charset="0"/>
                        </a:rPr>
                        <a:t>Test data</a:t>
                      </a:r>
                      <a:endParaRPr lang="en-US" sz="20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E2F3"/>
                    </a:solidFill>
                  </a:tcPr>
                </a:tc>
                <a:tc hMerge="1">
                  <a:txBody>
                    <a:bodyPr/>
                    <a:lstStyle/>
                    <a:p>
                      <a:endParaRPr lang="en-US"/>
                    </a:p>
                  </a:txBody>
                  <a:tcPr/>
                </a:tc>
                <a:extLst>
                  <a:ext uri="{0D108BD9-81ED-4DB2-BD59-A6C34878D82A}">
                    <a16:rowId xmlns:a16="http://schemas.microsoft.com/office/drawing/2014/main" val="229492423"/>
                  </a:ext>
                </a:extLst>
              </a:tr>
              <a:tr h="315237">
                <a:tc vMerge="1">
                  <a:txBody>
                    <a:bodyPr/>
                    <a:lstStyle/>
                    <a:p>
                      <a:endParaRPr lang="en-US"/>
                    </a:p>
                  </a:txBody>
                  <a:tcPr/>
                </a:tc>
                <a:tc>
                  <a:txBody>
                    <a:bodyPr/>
                    <a:lstStyle/>
                    <a:p>
                      <a:pPr algn="ctr" rtl="0" fontAlgn="t">
                        <a:buNone/>
                      </a:pPr>
                      <a:r>
                        <a:rPr lang="en-US" sz="2000" b="1" i="0" u="none" strike="noStrike">
                          <a:solidFill>
                            <a:srgbClr val="000000"/>
                          </a:solidFill>
                          <a:effectLst/>
                          <a:latin typeface="Arial" panose="020B0604020202020204" pitchFamily="34" charset="0"/>
                        </a:rPr>
                        <a:t>R squared</a:t>
                      </a:r>
                      <a:endParaRPr lang="en-US" sz="20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E2F3"/>
                    </a:solidFill>
                  </a:tcPr>
                </a:tc>
                <a:tc>
                  <a:txBody>
                    <a:bodyPr/>
                    <a:lstStyle/>
                    <a:p>
                      <a:pPr algn="ctr" rtl="0" fontAlgn="t">
                        <a:buNone/>
                      </a:pPr>
                      <a:r>
                        <a:rPr lang="en-US" sz="2000" b="1" i="0" u="none" strike="noStrike" dirty="0">
                          <a:solidFill>
                            <a:srgbClr val="000000"/>
                          </a:solidFill>
                          <a:effectLst/>
                          <a:latin typeface="Arial" panose="020B0604020202020204" pitchFamily="34" charset="0"/>
                        </a:rPr>
                        <a:t>RMSE</a:t>
                      </a:r>
                      <a:endParaRPr lang="en-US" sz="20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E2F3"/>
                    </a:solidFill>
                  </a:tcPr>
                </a:tc>
                <a:tc>
                  <a:txBody>
                    <a:bodyPr/>
                    <a:lstStyle/>
                    <a:p>
                      <a:pPr algn="ctr" rtl="0" fontAlgn="t">
                        <a:buNone/>
                      </a:pPr>
                      <a:r>
                        <a:rPr lang="en-US" sz="2000" b="1" i="0" u="none" strike="noStrike" dirty="0">
                          <a:solidFill>
                            <a:srgbClr val="000000"/>
                          </a:solidFill>
                          <a:effectLst/>
                          <a:latin typeface="Arial" panose="020B0604020202020204" pitchFamily="34" charset="0"/>
                        </a:rPr>
                        <a:t>R squared</a:t>
                      </a:r>
                      <a:endParaRPr lang="en-US" sz="20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E2F3"/>
                    </a:solidFill>
                  </a:tcPr>
                </a:tc>
                <a:tc>
                  <a:txBody>
                    <a:bodyPr/>
                    <a:lstStyle/>
                    <a:p>
                      <a:pPr algn="ctr" rtl="0" fontAlgn="t">
                        <a:buNone/>
                      </a:pPr>
                      <a:r>
                        <a:rPr lang="en-US" sz="2000" b="1" i="0" u="none" strike="noStrike" dirty="0">
                          <a:solidFill>
                            <a:srgbClr val="000000"/>
                          </a:solidFill>
                          <a:effectLst/>
                          <a:latin typeface="Arial" panose="020B0604020202020204" pitchFamily="34" charset="0"/>
                        </a:rPr>
                        <a:t>RMSE</a:t>
                      </a:r>
                      <a:endParaRPr lang="en-US" sz="20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E2F3"/>
                    </a:solidFill>
                  </a:tcPr>
                </a:tc>
                <a:extLst>
                  <a:ext uri="{0D108BD9-81ED-4DB2-BD59-A6C34878D82A}">
                    <a16:rowId xmlns:a16="http://schemas.microsoft.com/office/drawing/2014/main" val="3075194195"/>
                  </a:ext>
                </a:extLst>
              </a:tr>
              <a:tr h="315237">
                <a:tc>
                  <a:txBody>
                    <a:bodyPr/>
                    <a:lstStyle/>
                    <a:p>
                      <a:pPr rtl="0" fontAlgn="t">
                        <a:buNone/>
                      </a:pPr>
                      <a:r>
                        <a:rPr lang="en-US" sz="2000" b="1" i="0" u="none" strike="noStrike">
                          <a:solidFill>
                            <a:srgbClr val="000000"/>
                          </a:solidFill>
                          <a:effectLst/>
                          <a:latin typeface="Arial" panose="020B0604020202020204" pitchFamily="34" charset="0"/>
                        </a:rPr>
                        <a:t>Linear Regression</a:t>
                      </a:r>
                      <a:endParaRPr lang="en-US" sz="20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0.025</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highlight>
                            <a:srgbClr val="00FFFF"/>
                          </a:highlight>
                          <a:latin typeface="Arial" panose="020B0604020202020204" pitchFamily="34" charset="0"/>
                        </a:rPr>
                        <a:t>0.0434</a:t>
                      </a:r>
                      <a:endParaRPr lang="en-US" sz="2800" dirty="0">
                        <a:effectLst/>
                        <a:highlight>
                          <a:srgbClr val="00FFFF"/>
                        </a:highligh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a:solidFill>
                            <a:srgbClr val="000000"/>
                          </a:solidFill>
                          <a:effectLst/>
                          <a:latin typeface="Arial" panose="020B0604020202020204" pitchFamily="34" charset="0"/>
                        </a:rPr>
                        <a:t>-0.0968</a:t>
                      </a:r>
                      <a:endParaRPr lang="en-US" sz="28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highlight>
                            <a:srgbClr val="00FFFF"/>
                          </a:highlight>
                          <a:latin typeface="Arial" panose="020B0604020202020204" pitchFamily="34" charset="0"/>
                        </a:rPr>
                        <a:t>0.0320</a:t>
                      </a:r>
                      <a:endParaRPr lang="en-US" sz="2800" dirty="0">
                        <a:effectLst/>
                        <a:highlight>
                          <a:srgbClr val="00FFFF"/>
                        </a:highligh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6574742"/>
                  </a:ext>
                </a:extLst>
              </a:tr>
              <a:tr h="497005">
                <a:tc>
                  <a:txBody>
                    <a:bodyPr/>
                    <a:lstStyle/>
                    <a:p>
                      <a:pPr rtl="0" fontAlgn="t">
                        <a:buNone/>
                      </a:pPr>
                      <a:r>
                        <a:rPr lang="en-US" sz="2000" b="1" i="0" u="none" strike="noStrike">
                          <a:solidFill>
                            <a:srgbClr val="000000"/>
                          </a:solidFill>
                          <a:effectLst/>
                          <a:latin typeface="Arial" panose="020B0604020202020204" pitchFamily="34" charset="0"/>
                        </a:rPr>
                        <a:t>Ordinary Least Squares</a:t>
                      </a:r>
                      <a:endParaRPr lang="en-US" sz="20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0.034</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0.0425</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highlight>
                            <a:srgbClr val="00FFFF"/>
                          </a:highlight>
                          <a:latin typeface="Arial" panose="020B0604020202020204" pitchFamily="34" charset="0"/>
                        </a:rPr>
                        <a:t>0.0849</a:t>
                      </a:r>
                      <a:endParaRPr lang="en-US" sz="2800" dirty="0">
                        <a:effectLst/>
                        <a:highlight>
                          <a:srgbClr val="00FFFF"/>
                        </a:highligh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a:solidFill>
                            <a:srgbClr val="000000"/>
                          </a:solidFill>
                          <a:effectLst/>
                          <a:latin typeface="Arial" panose="020B0604020202020204" pitchFamily="34" charset="0"/>
                        </a:rPr>
                        <a:t>0.0310</a:t>
                      </a:r>
                      <a:endParaRPr lang="en-US" sz="28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6554940"/>
                  </a:ext>
                </a:extLst>
              </a:tr>
              <a:tr h="315237">
                <a:tc>
                  <a:txBody>
                    <a:bodyPr/>
                    <a:lstStyle/>
                    <a:p>
                      <a:pPr rtl="0" fontAlgn="t">
                        <a:buNone/>
                      </a:pPr>
                      <a:r>
                        <a:rPr lang="en-US" sz="2000" b="1" i="0" u="none" strike="noStrike">
                          <a:solidFill>
                            <a:srgbClr val="000000"/>
                          </a:solidFill>
                          <a:effectLst/>
                          <a:latin typeface="Arial" panose="020B0604020202020204" pitchFamily="34" charset="0"/>
                        </a:rPr>
                        <a:t>Ridge</a:t>
                      </a:r>
                      <a:endParaRPr lang="en-US" sz="20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a:solidFill>
                            <a:srgbClr val="000000"/>
                          </a:solidFill>
                          <a:effectLst/>
                          <a:latin typeface="Arial" panose="020B0604020202020204" pitchFamily="34" charset="0"/>
                        </a:rPr>
                        <a:t>-0.0108</a:t>
                      </a:r>
                      <a:endParaRPr lang="en-US" sz="28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0.0430</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-0.0553</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a:solidFill>
                            <a:srgbClr val="000000"/>
                          </a:solidFill>
                          <a:effectLst/>
                          <a:latin typeface="Arial" panose="020B0604020202020204" pitchFamily="34" charset="0"/>
                        </a:rPr>
                        <a:t>0.0010</a:t>
                      </a:r>
                      <a:endParaRPr lang="en-US" sz="28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450620"/>
                  </a:ext>
                </a:extLst>
              </a:tr>
              <a:tr h="315237">
                <a:tc>
                  <a:txBody>
                    <a:bodyPr/>
                    <a:lstStyle/>
                    <a:p>
                      <a:pPr rtl="0" fontAlgn="t">
                        <a:buNone/>
                      </a:pPr>
                      <a:r>
                        <a:rPr lang="en-US" sz="2000" b="1" i="0" u="none" strike="noStrike">
                          <a:solidFill>
                            <a:srgbClr val="000000"/>
                          </a:solidFill>
                          <a:effectLst/>
                          <a:latin typeface="Arial" panose="020B0604020202020204" pitchFamily="34" charset="0"/>
                        </a:rPr>
                        <a:t>Random Forest</a:t>
                      </a:r>
                      <a:endParaRPr lang="en-US" sz="20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highlight>
                            <a:srgbClr val="00FFFF"/>
                          </a:highlight>
                          <a:latin typeface="Arial" panose="020B0604020202020204" pitchFamily="34" charset="0"/>
                        </a:rPr>
                        <a:t>0.0584</a:t>
                      </a:r>
                      <a:endParaRPr lang="en-US" sz="2800" dirty="0">
                        <a:effectLst/>
                        <a:highlight>
                          <a:srgbClr val="00FFFF"/>
                        </a:highligh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a:solidFill>
                            <a:srgbClr val="000000"/>
                          </a:solidFill>
                          <a:effectLst/>
                          <a:latin typeface="Arial" panose="020B0604020202020204" pitchFamily="34" charset="0"/>
                        </a:rPr>
                        <a:t>-0.00174</a:t>
                      </a:r>
                      <a:endParaRPr lang="en-US" sz="28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0.0584</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-0.00105</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0410552"/>
                  </a:ext>
                </a:extLst>
              </a:tr>
              <a:tr h="315237">
                <a:tc>
                  <a:txBody>
                    <a:bodyPr/>
                    <a:lstStyle/>
                    <a:p>
                      <a:pPr rtl="0" fontAlgn="t">
                        <a:buNone/>
                      </a:pPr>
                      <a:r>
                        <a:rPr lang="en-US" sz="2000" b="1" i="0" u="none" strike="noStrike" dirty="0" err="1">
                          <a:solidFill>
                            <a:srgbClr val="000000"/>
                          </a:solidFill>
                          <a:effectLst/>
                          <a:latin typeface="Arial" panose="020B0604020202020204" pitchFamily="34" charset="0"/>
                        </a:rPr>
                        <a:t>XGBoost</a:t>
                      </a:r>
                      <a:endParaRPr lang="en-US" sz="20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-0.00000</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a:solidFill>
                            <a:srgbClr val="000000"/>
                          </a:solidFill>
                          <a:effectLst/>
                          <a:latin typeface="Arial" panose="020B0604020202020204" pitchFamily="34" charset="0"/>
                        </a:rPr>
                        <a:t>-0.00185</a:t>
                      </a:r>
                      <a:endParaRPr lang="en-US" sz="28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a:solidFill>
                            <a:srgbClr val="000000"/>
                          </a:solidFill>
                          <a:effectLst/>
                          <a:latin typeface="Arial" panose="020B0604020202020204" pitchFamily="34" charset="0"/>
                        </a:rPr>
                        <a:t>N/A</a:t>
                      </a:r>
                      <a:endParaRPr lang="en-US" sz="280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800" b="0" i="0" u="none" strike="noStrike" dirty="0">
                          <a:solidFill>
                            <a:srgbClr val="000000"/>
                          </a:solidFill>
                          <a:effectLst/>
                          <a:latin typeface="Arial" panose="020B0604020202020204" pitchFamily="34" charset="0"/>
                        </a:rPr>
                        <a:t>N/A</a:t>
                      </a:r>
                      <a:endParaRPr lang="en-US" sz="2800" dirty="0">
                        <a:effectLst/>
                      </a:endParaRPr>
                    </a:p>
                  </a:txBody>
                  <a:tcPr marL="61547" marR="61547" marT="61547" marB="615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3213793"/>
                  </a:ext>
                </a:extLst>
              </a:tr>
            </a:tbl>
          </a:graphicData>
        </a:graphic>
      </p:graphicFrame>
      <p:sp>
        <p:nvSpPr>
          <p:cNvPr id="5" name="Rectangle 1">
            <a:extLst>
              <a:ext uri="{FF2B5EF4-FFF2-40B4-BE49-F238E27FC236}">
                <a16:creationId xmlns:a16="http://schemas.microsoft.com/office/drawing/2014/main" id="{D1174A90-087B-8A6A-D8C4-6F173080C666}"/>
              </a:ext>
            </a:extLst>
          </p:cNvPr>
          <p:cNvSpPr>
            <a:spLocks noChangeArrowheads="1"/>
          </p:cNvSpPr>
          <p:nvPr/>
        </p:nvSpPr>
        <p:spPr bwMode="auto">
          <a:xfrm>
            <a:off x="3132138" y="26146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594273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2541-2B4C-3C0E-7873-64372EE37DDE}"/>
              </a:ext>
            </a:extLst>
          </p:cNvPr>
          <p:cNvSpPr>
            <a:spLocks noGrp="1"/>
          </p:cNvSpPr>
          <p:nvPr>
            <p:ph type="title"/>
          </p:nvPr>
        </p:nvSpPr>
        <p:spPr>
          <a:xfrm>
            <a:off x="2480584" y="527683"/>
            <a:ext cx="6906984" cy="1158024"/>
          </a:xfrm>
        </p:spPr>
        <p:txBody>
          <a:bodyPr/>
          <a:lstStyle/>
          <a:p>
            <a:r>
              <a:rPr lang="en-US" dirty="0"/>
              <a:t>Modeling: Correlates </a:t>
            </a:r>
            <a:br>
              <a:rPr lang="en-US" dirty="0"/>
            </a:br>
            <a:r>
              <a:rPr lang="en-US" dirty="0"/>
              <a:t>of coverage</a:t>
            </a:r>
          </a:p>
        </p:txBody>
      </p:sp>
      <p:sp>
        <p:nvSpPr>
          <p:cNvPr id="11" name="TextBox 10">
            <a:extLst>
              <a:ext uri="{FF2B5EF4-FFF2-40B4-BE49-F238E27FC236}">
                <a16:creationId xmlns:a16="http://schemas.microsoft.com/office/drawing/2014/main" id="{6192C380-D346-A877-AE95-0C02FBE96643}"/>
              </a:ext>
            </a:extLst>
          </p:cNvPr>
          <p:cNvSpPr txBox="1"/>
          <p:nvPr/>
        </p:nvSpPr>
        <p:spPr>
          <a:xfrm>
            <a:off x="5001986" y="2334985"/>
            <a:ext cx="1864180" cy="3139321"/>
          </a:xfrm>
          <a:prstGeom prst="rect">
            <a:avLst/>
          </a:prstGeom>
          <a:noFill/>
        </p:spPr>
        <p:txBody>
          <a:bodyPr wrap="square">
            <a:spAutoFit/>
          </a:bodyPr>
          <a:lstStyle/>
          <a:p>
            <a:pPr algn="ctr"/>
            <a:r>
              <a:rPr lang="en-US" dirty="0"/>
              <a:t>Applied a logit transformation to percentage of children vaccinated (p) whereby logit(p</a:t>
            </a:r>
            <a:r>
              <a:rPr lang="en-US" b="1" dirty="0"/>
              <a:t>) = </a:t>
            </a:r>
            <a:r>
              <a:rPr lang="en-US" dirty="0"/>
              <a:t>log(1−pp​) in order to expand differences in values close to 100% coverage. </a:t>
            </a:r>
          </a:p>
        </p:txBody>
      </p:sp>
      <p:pic>
        <p:nvPicPr>
          <p:cNvPr id="27" name="Content Placeholder 26">
            <a:extLst>
              <a:ext uri="{FF2B5EF4-FFF2-40B4-BE49-F238E27FC236}">
                <a16:creationId xmlns:a16="http://schemas.microsoft.com/office/drawing/2014/main" id="{E1F09ED1-2E01-34B3-E90E-9159571A3D79}"/>
              </a:ext>
            </a:extLst>
          </p:cNvPr>
          <p:cNvPicPr>
            <a:picLocks noGrp="1" noChangeAspect="1"/>
          </p:cNvPicPr>
          <p:nvPr>
            <p:ph idx="1"/>
          </p:nvPr>
        </p:nvPicPr>
        <p:blipFill>
          <a:blip r:embed="rId2"/>
          <a:stretch>
            <a:fillRect/>
          </a:stretch>
        </p:blipFill>
        <p:spPr>
          <a:xfrm>
            <a:off x="198788" y="2334985"/>
            <a:ext cx="4563591" cy="3496175"/>
          </a:xfrm>
        </p:spPr>
      </p:pic>
      <p:pic>
        <p:nvPicPr>
          <p:cNvPr id="29" name="Picture 28">
            <a:extLst>
              <a:ext uri="{FF2B5EF4-FFF2-40B4-BE49-F238E27FC236}">
                <a16:creationId xmlns:a16="http://schemas.microsoft.com/office/drawing/2014/main" id="{A33703EC-92DD-3A49-A86F-1F385C427CDC}"/>
              </a:ext>
            </a:extLst>
          </p:cNvPr>
          <p:cNvPicPr>
            <a:picLocks noChangeAspect="1"/>
          </p:cNvPicPr>
          <p:nvPr/>
        </p:nvPicPr>
        <p:blipFill>
          <a:blip r:embed="rId3"/>
          <a:stretch>
            <a:fillRect/>
          </a:stretch>
        </p:blipFill>
        <p:spPr>
          <a:xfrm>
            <a:off x="7311483" y="2334985"/>
            <a:ext cx="4563591" cy="3592286"/>
          </a:xfrm>
          <a:prstGeom prst="rect">
            <a:avLst/>
          </a:prstGeom>
        </p:spPr>
      </p:pic>
    </p:spTree>
    <p:extLst>
      <p:ext uri="{BB962C8B-B14F-4D97-AF65-F5344CB8AC3E}">
        <p14:creationId xmlns:p14="http://schemas.microsoft.com/office/powerpoint/2010/main" val="3392609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D687-0ED2-EA09-75AC-77B9D6F84A60}"/>
              </a:ext>
            </a:extLst>
          </p:cNvPr>
          <p:cNvSpPr>
            <a:spLocks noGrp="1"/>
          </p:cNvSpPr>
          <p:nvPr>
            <p:ph type="title"/>
          </p:nvPr>
        </p:nvSpPr>
        <p:spPr>
          <a:xfrm>
            <a:off x="9339942" y="228600"/>
            <a:ext cx="2547693" cy="1430299"/>
          </a:xfrm>
        </p:spPr>
        <p:txBody>
          <a:bodyPr>
            <a:normAutofit fontScale="90000"/>
          </a:bodyPr>
          <a:lstStyle/>
          <a:p>
            <a:r>
              <a:rPr lang="en-US" dirty="0"/>
              <a:t>MODELING: Correlates of Coverage</a:t>
            </a:r>
          </a:p>
        </p:txBody>
      </p:sp>
      <p:sp>
        <p:nvSpPr>
          <p:cNvPr id="3" name="Content Placeholder 2">
            <a:extLst>
              <a:ext uri="{FF2B5EF4-FFF2-40B4-BE49-F238E27FC236}">
                <a16:creationId xmlns:a16="http://schemas.microsoft.com/office/drawing/2014/main" id="{7AAAF379-1C8A-CCE9-CE86-EC082984C785}"/>
              </a:ext>
            </a:extLst>
          </p:cNvPr>
          <p:cNvSpPr>
            <a:spLocks noGrp="1"/>
          </p:cNvSpPr>
          <p:nvPr>
            <p:ph idx="1"/>
          </p:nvPr>
        </p:nvSpPr>
        <p:spPr>
          <a:xfrm>
            <a:off x="9052612" y="2253343"/>
            <a:ext cx="2835024" cy="4134477"/>
          </a:xfrm>
        </p:spPr>
        <p:txBody>
          <a:bodyPr>
            <a:normAutofit/>
          </a:bodyPr>
          <a:lstStyle/>
          <a:p>
            <a:r>
              <a:rPr lang="en-US" dirty="0"/>
              <a:t>Using transformed coverage as outcome had little effect on which correlates were most important (in terms of magnitude) nor did it improve model performance on training or testing data significantly (RMSE 0.0505, 0.0356 respectively)</a:t>
            </a:r>
          </a:p>
        </p:txBody>
      </p:sp>
      <p:pic>
        <p:nvPicPr>
          <p:cNvPr id="5" name="Picture 4">
            <a:extLst>
              <a:ext uri="{FF2B5EF4-FFF2-40B4-BE49-F238E27FC236}">
                <a16:creationId xmlns:a16="http://schemas.microsoft.com/office/drawing/2014/main" id="{1F6531B6-4FE4-F496-559B-36D39A93C946}"/>
              </a:ext>
            </a:extLst>
          </p:cNvPr>
          <p:cNvPicPr>
            <a:picLocks noChangeAspect="1"/>
          </p:cNvPicPr>
          <p:nvPr/>
        </p:nvPicPr>
        <p:blipFill>
          <a:blip r:embed="rId2"/>
          <a:stretch>
            <a:fillRect/>
          </a:stretch>
        </p:blipFill>
        <p:spPr>
          <a:xfrm>
            <a:off x="0" y="36486"/>
            <a:ext cx="9052612" cy="6821514"/>
          </a:xfrm>
          <a:prstGeom prst="rect">
            <a:avLst/>
          </a:prstGeom>
        </p:spPr>
      </p:pic>
    </p:spTree>
    <p:extLst>
      <p:ext uri="{BB962C8B-B14F-4D97-AF65-F5344CB8AC3E}">
        <p14:creationId xmlns:p14="http://schemas.microsoft.com/office/powerpoint/2010/main" val="87559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D3CA8-F629-17FD-AFDB-099690E11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04B50-9776-D0E9-E309-16F59CB4BF04}"/>
              </a:ext>
            </a:extLst>
          </p:cNvPr>
          <p:cNvSpPr>
            <a:spLocks noGrp="1"/>
          </p:cNvSpPr>
          <p:nvPr>
            <p:ph type="title"/>
          </p:nvPr>
        </p:nvSpPr>
        <p:spPr>
          <a:xfrm>
            <a:off x="8507184" y="371633"/>
            <a:ext cx="3380451" cy="1188720"/>
          </a:xfrm>
        </p:spPr>
        <p:txBody>
          <a:bodyPr>
            <a:normAutofit fontScale="90000"/>
          </a:bodyPr>
          <a:lstStyle/>
          <a:p>
            <a:r>
              <a:rPr lang="en-US" dirty="0"/>
              <a:t>MODELING: Correlates of Coverage</a:t>
            </a:r>
          </a:p>
        </p:txBody>
      </p:sp>
      <p:sp>
        <p:nvSpPr>
          <p:cNvPr id="3" name="Content Placeholder 2">
            <a:extLst>
              <a:ext uri="{FF2B5EF4-FFF2-40B4-BE49-F238E27FC236}">
                <a16:creationId xmlns:a16="http://schemas.microsoft.com/office/drawing/2014/main" id="{976D9D5E-C1E4-26BA-94D2-118FF381D6FF}"/>
              </a:ext>
            </a:extLst>
          </p:cNvPr>
          <p:cNvSpPr>
            <a:spLocks noGrp="1"/>
          </p:cNvSpPr>
          <p:nvPr>
            <p:ph idx="1"/>
          </p:nvPr>
        </p:nvSpPr>
        <p:spPr>
          <a:xfrm>
            <a:off x="8507186" y="2410278"/>
            <a:ext cx="3380450" cy="3101983"/>
          </a:xfrm>
        </p:spPr>
        <p:txBody>
          <a:bodyPr/>
          <a:lstStyle/>
          <a:p>
            <a:r>
              <a:rPr lang="en-US" dirty="0"/>
              <a:t>The estimated Y values based on the linear regressor model</a:t>
            </a:r>
          </a:p>
          <a:p>
            <a:r>
              <a:rPr lang="en-US" dirty="0"/>
              <a:t>Little variation in estimates, especially inappropriate for counties with lower MMR coverage rates</a:t>
            </a:r>
          </a:p>
        </p:txBody>
      </p:sp>
      <p:pic>
        <p:nvPicPr>
          <p:cNvPr id="7" name="Picture 6">
            <a:extLst>
              <a:ext uri="{FF2B5EF4-FFF2-40B4-BE49-F238E27FC236}">
                <a16:creationId xmlns:a16="http://schemas.microsoft.com/office/drawing/2014/main" id="{3FDEFF7B-F861-E6E5-17BD-45D73E655DD6}"/>
              </a:ext>
            </a:extLst>
          </p:cNvPr>
          <p:cNvPicPr>
            <a:picLocks noChangeAspect="1"/>
          </p:cNvPicPr>
          <p:nvPr/>
        </p:nvPicPr>
        <p:blipFill>
          <a:blip r:embed="rId3"/>
          <a:stretch>
            <a:fillRect/>
          </a:stretch>
        </p:blipFill>
        <p:spPr>
          <a:xfrm>
            <a:off x="0" y="0"/>
            <a:ext cx="8420582" cy="6858000"/>
          </a:xfrm>
          <a:prstGeom prst="rect">
            <a:avLst/>
          </a:prstGeom>
        </p:spPr>
      </p:pic>
    </p:spTree>
    <p:extLst>
      <p:ext uri="{BB962C8B-B14F-4D97-AF65-F5344CB8AC3E}">
        <p14:creationId xmlns:p14="http://schemas.microsoft.com/office/powerpoint/2010/main" val="2469251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E89D2-AC7C-B338-C363-2A4FF863F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FE99B-B8D2-EE58-2231-A8836C7D2243}"/>
              </a:ext>
            </a:extLst>
          </p:cNvPr>
          <p:cNvSpPr>
            <a:spLocks noGrp="1"/>
          </p:cNvSpPr>
          <p:nvPr>
            <p:ph type="title"/>
          </p:nvPr>
        </p:nvSpPr>
        <p:spPr>
          <a:xfrm>
            <a:off x="2167672" y="230756"/>
            <a:ext cx="7729728" cy="1188720"/>
          </a:xfrm>
        </p:spPr>
        <p:txBody>
          <a:bodyPr/>
          <a:lstStyle/>
          <a:p>
            <a:r>
              <a:rPr lang="en-US" dirty="0"/>
              <a:t>Modeling: PREDICTING coverage</a:t>
            </a:r>
          </a:p>
        </p:txBody>
      </p:sp>
      <p:sp>
        <p:nvSpPr>
          <p:cNvPr id="5" name="Rectangle 1">
            <a:extLst>
              <a:ext uri="{FF2B5EF4-FFF2-40B4-BE49-F238E27FC236}">
                <a16:creationId xmlns:a16="http://schemas.microsoft.com/office/drawing/2014/main" id="{D53BA1DB-58F0-E76C-0788-D234E80E4CAD}"/>
              </a:ext>
            </a:extLst>
          </p:cNvPr>
          <p:cNvSpPr>
            <a:spLocks noChangeArrowheads="1"/>
          </p:cNvSpPr>
          <p:nvPr/>
        </p:nvSpPr>
        <p:spPr bwMode="auto">
          <a:xfrm>
            <a:off x="3132138" y="26146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Content Placeholder 2">
            <a:extLst>
              <a:ext uri="{FF2B5EF4-FFF2-40B4-BE49-F238E27FC236}">
                <a16:creationId xmlns:a16="http://schemas.microsoft.com/office/drawing/2014/main" id="{F682F05E-FAC9-62C9-61C3-EB6E47EAB547}"/>
              </a:ext>
            </a:extLst>
          </p:cNvPr>
          <p:cNvSpPr>
            <a:spLocks noGrp="1"/>
          </p:cNvSpPr>
          <p:nvPr>
            <p:ph idx="1"/>
          </p:nvPr>
        </p:nvSpPr>
        <p:spPr>
          <a:xfrm>
            <a:off x="5826369" y="2110965"/>
            <a:ext cx="4071031" cy="3996417"/>
          </a:xfrm>
        </p:spPr>
        <p:txBody>
          <a:bodyPr>
            <a:normAutofit/>
          </a:bodyPr>
          <a:lstStyle/>
          <a:p>
            <a:r>
              <a:rPr lang="en-US" sz="2400" dirty="0"/>
              <a:t>75/25 county split such that all years for a given county were either in train or test data sets</a:t>
            </a:r>
          </a:p>
          <a:p>
            <a:r>
              <a:rPr lang="en-US" sz="2400" dirty="0" err="1"/>
              <a:t>SelectKBest</a:t>
            </a:r>
            <a:endParaRPr lang="en-US" sz="2400" dirty="0"/>
          </a:p>
          <a:p>
            <a:r>
              <a:rPr lang="en-US" sz="2400" dirty="0"/>
              <a:t>Cross-validation (5 folds)</a:t>
            </a:r>
          </a:p>
          <a:p>
            <a:endParaRPr lang="en-US" sz="2400" dirty="0"/>
          </a:p>
          <a:p>
            <a:endParaRPr lang="en-US" sz="2400" dirty="0"/>
          </a:p>
        </p:txBody>
      </p:sp>
      <p:sp>
        <p:nvSpPr>
          <p:cNvPr id="7" name="TextBox 6">
            <a:extLst>
              <a:ext uri="{FF2B5EF4-FFF2-40B4-BE49-F238E27FC236}">
                <a16:creationId xmlns:a16="http://schemas.microsoft.com/office/drawing/2014/main" id="{F60A7622-DBA4-EC8E-9DE3-D7C450954189}"/>
              </a:ext>
            </a:extLst>
          </p:cNvPr>
          <p:cNvSpPr txBox="1"/>
          <p:nvPr/>
        </p:nvSpPr>
        <p:spPr>
          <a:xfrm>
            <a:off x="2167671" y="1966050"/>
            <a:ext cx="5131199" cy="584775"/>
          </a:xfrm>
          <a:prstGeom prst="rect">
            <a:avLst/>
          </a:prstGeom>
          <a:noFill/>
        </p:spPr>
        <p:txBody>
          <a:bodyPr wrap="square">
            <a:spAutoFit/>
          </a:bodyPr>
          <a:lstStyle/>
          <a:p>
            <a:pPr marL="342900" indent="-342900">
              <a:buFont typeface="+mj-lt"/>
              <a:buAutoNum type="arabicPeriod"/>
            </a:pPr>
            <a:r>
              <a:rPr lang="en-US" sz="3200" dirty="0"/>
              <a:t>Linear Regressor</a:t>
            </a:r>
          </a:p>
        </p:txBody>
      </p:sp>
    </p:spTree>
    <p:extLst>
      <p:ext uri="{BB962C8B-B14F-4D97-AF65-F5344CB8AC3E}">
        <p14:creationId xmlns:p14="http://schemas.microsoft.com/office/powerpoint/2010/main" val="2379146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26FD-BE91-4FF5-5B6A-807143B44E01}"/>
              </a:ext>
            </a:extLst>
          </p:cNvPr>
          <p:cNvSpPr>
            <a:spLocks noGrp="1"/>
          </p:cNvSpPr>
          <p:nvPr>
            <p:ph type="title"/>
          </p:nvPr>
        </p:nvSpPr>
        <p:spPr>
          <a:xfrm>
            <a:off x="9192985" y="589134"/>
            <a:ext cx="2737757" cy="2088751"/>
          </a:xfrm>
        </p:spPr>
        <p:txBody>
          <a:bodyPr>
            <a:normAutofit/>
          </a:bodyPr>
          <a:lstStyle/>
          <a:p>
            <a:r>
              <a:rPr lang="en-US" dirty="0"/>
              <a:t>MODELING: PREDICTORS OF COVERAGE</a:t>
            </a:r>
          </a:p>
        </p:txBody>
      </p:sp>
      <p:pic>
        <p:nvPicPr>
          <p:cNvPr id="9" name="Content Placeholder 8">
            <a:extLst>
              <a:ext uri="{FF2B5EF4-FFF2-40B4-BE49-F238E27FC236}">
                <a16:creationId xmlns:a16="http://schemas.microsoft.com/office/drawing/2014/main" id="{F113B93C-55B5-090A-E0CC-D74B7260A7FF}"/>
              </a:ext>
            </a:extLst>
          </p:cNvPr>
          <p:cNvPicPr>
            <a:picLocks noGrp="1" noChangeAspect="1"/>
          </p:cNvPicPr>
          <p:nvPr>
            <p:ph idx="1"/>
          </p:nvPr>
        </p:nvPicPr>
        <p:blipFill>
          <a:blip r:embed="rId2"/>
          <a:stretch>
            <a:fillRect/>
          </a:stretch>
        </p:blipFill>
        <p:spPr>
          <a:xfrm>
            <a:off x="0" y="0"/>
            <a:ext cx="9071898" cy="6858000"/>
          </a:xfrm>
        </p:spPr>
      </p:pic>
      <p:sp>
        <p:nvSpPr>
          <p:cNvPr id="10" name="Content Placeholder 2">
            <a:extLst>
              <a:ext uri="{FF2B5EF4-FFF2-40B4-BE49-F238E27FC236}">
                <a16:creationId xmlns:a16="http://schemas.microsoft.com/office/drawing/2014/main" id="{DAB194AE-748C-5E63-2208-1B544A80470F}"/>
              </a:ext>
            </a:extLst>
          </p:cNvPr>
          <p:cNvSpPr txBox="1">
            <a:spLocks/>
          </p:cNvSpPr>
          <p:nvPr/>
        </p:nvSpPr>
        <p:spPr>
          <a:xfrm>
            <a:off x="9052612" y="3037114"/>
            <a:ext cx="2835024" cy="335070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Predictors on training data changed slightly to include # and % of Primary Care Physicians, the infant mortality rate, and black/white segregation index</a:t>
            </a:r>
          </a:p>
          <a:p>
            <a:r>
              <a:rPr lang="en-US" dirty="0"/>
              <a:t>The # of live births and polio coverage remained among the top five features identified</a:t>
            </a:r>
          </a:p>
        </p:txBody>
      </p:sp>
    </p:spTree>
    <p:extLst>
      <p:ext uri="{BB962C8B-B14F-4D97-AF65-F5344CB8AC3E}">
        <p14:creationId xmlns:p14="http://schemas.microsoft.com/office/powerpoint/2010/main" val="2705393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F2991-9BC5-CCAC-F583-005FCA5AF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C1957-70A9-95E1-5350-36F9613CED35}"/>
              </a:ext>
            </a:extLst>
          </p:cNvPr>
          <p:cNvSpPr>
            <a:spLocks noGrp="1"/>
          </p:cNvSpPr>
          <p:nvPr>
            <p:ph type="title"/>
          </p:nvPr>
        </p:nvSpPr>
        <p:spPr>
          <a:xfrm>
            <a:off x="9192985" y="589134"/>
            <a:ext cx="2737757" cy="2088751"/>
          </a:xfrm>
        </p:spPr>
        <p:txBody>
          <a:bodyPr>
            <a:normAutofit/>
          </a:bodyPr>
          <a:lstStyle/>
          <a:p>
            <a:r>
              <a:rPr lang="en-US" dirty="0"/>
              <a:t>MODELING: PREDICTORS OF COVERAGE</a:t>
            </a:r>
          </a:p>
        </p:txBody>
      </p:sp>
      <p:sp>
        <p:nvSpPr>
          <p:cNvPr id="10" name="Content Placeholder 2">
            <a:extLst>
              <a:ext uri="{FF2B5EF4-FFF2-40B4-BE49-F238E27FC236}">
                <a16:creationId xmlns:a16="http://schemas.microsoft.com/office/drawing/2014/main" id="{3A3F34A4-F6B1-E4F6-A10D-13C7555DF20E}"/>
              </a:ext>
            </a:extLst>
          </p:cNvPr>
          <p:cNvSpPr txBox="1">
            <a:spLocks/>
          </p:cNvSpPr>
          <p:nvPr/>
        </p:nvSpPr>
        <p:spPr>
          <a:xfrm>
            <a:off x="9052612" y="3037114"/>
            <a:ext cx="2835024" cy="335070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Line graph shows coverage rates converted back from log odds</a:t>
            </a:r>
          </a:p>
          <a:p>
            <a:r>
              <a:rPr lang="en-US" dirty="0"/>
              <a:t>Prediction ability of  the model was similarly poor with an R-squared of -0.0996 and an RMSE of 0.0356 on test data</a:t>
            </a:r>
          </a:p>
        </p:txBody>
      </p:sp>
      <p:pic>
        <p:nvPicPr>
          <p:cNvPr id="6" name="Content Placeholder 5">
            <a:extLst>
              <a:ext uri="{FF2B5EF4-FFF2-40B4-BE49-F238E27FC236}">
                <a16:creationId xmlns:a16="http://schemas.microsoft.com/office/drawing/2014/main" id="{0EE1EB76-B55C-23D3-1AA3-5594E0B24649}"/>
              </a:ext>
            </a:extLst>
          </p:cNvPr>
          <p:cNvPicPr>
            <a:picLocks noGrp="1" noChangeAspect="1"/>
          </p:cNvPicPr>
          <p:nvPr>
            <p:ph idx="1"/>
          </p:nvPr>
        </p:nvPicPr>
        <p:blipFill>
          <a:blip r:embed="rId2"/>
          <a:stretch>
            <a:fillRect/>
          </a:stretch>
        </p:blipFill>
        <p:spPr>
          <a:xfrm>
            <a:off x="-1" y="-72278"/>
            <a:ext cx="8662845" cy="6930277"/>
          </a:xfrm>
        </p:spPr>
      </p:pic>
    </p:spTree>
    <p:extLst>
      <p:ext uri="{BB962C8B-B14F-4D97-AF65-F5344CB8AC3E}">
        <p14:creationId xmlns:p14="http://schemas.microsoft.com/office/powerpoint/2010/main" val="1031995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20B7D-A028-CB04-2134-5542553B4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E3E580-7C7B-3194-F47A-3D6A3A12C6C9}"/>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15D44EC1-B39D-3C80-C490-2E58F13A2ECA}"/>
              </a:ext>
            </a:extLst>
          </p:cNvPr>
          <p:cNvSpPr>
            <a:spLocks noGrp="1"/>
          </p:cNvSpPr>
          <p:nvPr>
            <p:ph idx="1"/>
          </p:nvPr>
        </p:nvSpPr>
        <p:spPr>
          <a:xfrm>
            <a:off x="1273629" y="2302330"/>
            <a:ext cx="9780813" cy="3437698"/>
          </a:xfrm>
        </p:spPr>
        <p:txBody>
          <a:bodyPr numCol="2">
            <a:normAutofit/>
          </a:bodyPr>
          <a:lstStyle/>
          <a:p>
            <a:pPr marL="342900" indent="-342900" fontAlgn="base">
              <a:buFont typeface="+mj-lt"/>
              <a:buAutoNum type="arabicPeriod"/>
            </a:pPr>
            <a:r>
              <a:rPr lang="en-US" sz="2400" dirty="0"/>
              <a:t>What are the </a:t>
            </a:r>
            <a:r>
              <a:rPr lang="en-US" sz="2400" b="1" dirty="0"/>
              <a:t>strongest predictors </a:t>
            </a:r>
            <a:r>
              <a:rPr lang="en-US" sz="2400" dirty="0"/>
              <a:t>of high county-level measles vaccination rates across Texas being up-to-date on the  MMR vaccine series? </a:t>
            </a:r>
          </a:p>
          <a:p>
            <a:pPr marL="342900" indent="-342900" fontAlgn="base">
              <a:buFont typeface="+mj-lt"/>
              <a:buAutoNum type="arabicPeriod"/>
            </a:pPr>
            <a:endParaRPr lang="en-US" sz="2400" dirty="0"/>
          </a:p>
          <a:p>
            <a:pPr marL="342900" indent="-342900" fontAlgn="base">
              <a:buFont typeface="+mj-lt"/>
              <a:buAutoNum type="arabicPeriod"/>
            </a:pPr>
            <a:endParaRPr lang="en-US" sz="2400" dirty="0"/>
          </a:p>
          <a:p>
            <a:pPr marL="342900" indent="-342900" fontAlgn="base">
              <a:buFont typeface="+mj-lt"/>
              <a:buAutoNum type="arabicPeriod"/>
            </a:pPr>
            <a:endParaRPr lang="en-US" sz="2400" dirty="0"/>
          </a:p>
          <a:p>
            <a:pPr marL="0" indent="0" fontAlgn="base">
              <a:buNone/>
            </a:pPr>
            <a:r>
              <a:rPr lang="en-US" sz="2400" b="1" dirty="0"/>
              <a:t>Answer</a:t>
            </a:r>
            <a:r>
              <a:rPr lang="en-US" sz="2400" dirty="0"/>
              <a:t>: </a:t>
            </a:r>
          </a:p>
          <a:p>
            <a:pPr marL="0" indent="0" fontAlgn="base">
              <a:buNone/>
            </a:pPr>
            <a:r>
              <a:rPr lang="en-US" dirty="0"/>
              <a:t>1.) Hepatitis B coverage, (+)</a:t>
            </a:r>
          </a:p>
          <a:p>
            <a:pPr marL="0" indent="0" fontAlgn="base">
              <a:buNone/>
            </a:pPr>
            <a:r>
              <a:rPr lang="en-US" dirty="0"/>
              <a:t>2.) the number of live births in a county, (-)</a:t>
            </a:r>
          </a:p>
          <a:p>
            <a:pPr marL="0" indent="0" fontAlgn="base">
              <a:buNone/>
            </a:pPr>
            <a:r>
              <a:rPr lang="en-US" dirty="0"/>
              <a:t>3.) polio vaccine coverage, (-)</a:t>
            </a:r>
          </a:p>
          <a:p>
            <a:pPr marL="0" indent="0" fontAlgn="base">
              <a:buNone/>
            </a:pPr>
            <a:r>
              <a:rPr lang="en-US" dirty="0"/>
              <a:t>4.) the concern for COVID-19 vaccination rollout index (+) and </a:t>
            </a:r>
          </a:p>
          <a:p>
            <a:pPr marL="0" indent="0" fontAlgn="base">
              <a:buNone/>
            </a:pPr>
            <a:r>
              <a:rPr lang="en-US" dirty="0"/>
              <a:t>5.) the Primary Care Physicians Rate (+). </a:t>
            </a:r>
            <a:endParaRPr lang="en-US" sz="2400" dirty="0"/>
          </a:p>
        </p:txBody>
      </p:sp>
      <p:sp>
        <p:nvSpPr>
          <p:cNvPr id="4" name="TextBox 3">
            <a:extLst>
              <a:ext uri="{FF2B5EF4-FFF2-40B4-BE49-F238E27FC236}">
                <a16:creationId xmlns:a16="http://schemas.microsoft.com/office/drawing/2014/main" id="{C3C32334-056F-6F97-AB67-B3D7CEE7E5B1}"/>
              </a:ext>
            </a:extLst>
          </p:cNvPr>
          <p:cNvSpPr txBox="1"/>
          <p:nvPr/>
        </p:nvSpPr>
        <p:spPr>
          <a:xfrm>
            <a:off x="1698171" y="5578328"/>
            <a:ext cx="7690758" cy="646331"/>
          </a:xfrm>
          <a:prstGeom prst="rect">
            <a:avLst/>
          </a:prstGeom>
          <a:noFill/>
        </p:spPr>
        <p:txBody>
          <a:bodyPr wrap="square" rtlCol="0">
            <a:spAutoFit/>
          </a:bodyPr>
          <a:lstStyle/>
          <a:p>
            <a:r>
              <a:rPr lang="en-US" dirty="0">
                <a:solidFill>
                  <a:srgbClr val="FF0000"/>
                </a:solidFill>
              </a:rPr>
              <a:t>However! Model performance was very poor.  </a:t>
            </a:r>
            <a:r>
              <a:rPr lang="en-US" dirty="0"/>
              <a:t>The correlates included did not appear to explain much of the variance in estimated coverage rates.</a:t>
            </a:r>
          </a:p>
        </p:txBody>
      </p:sp>
    </p:spTree>
    <p:extLst>
      <p:ext uri="{BB962C8B-B14F-4D97-AF65-F5344CB8AC3E}">
        <p14:creationId xmlns:p14="http://schemas.microsoft.com/office/powerpoint/2010/main" val="608618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AB364-CC9E-8D75-FD50-36F25B1F6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FD1D2-0A67-F53C-08CE-D0CFB333A197}"/>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09F7F75-3B3B-DC0B-0F4D-7D3CA248FD1B}"/>
              </a:ext>
            </a:extLst>
          </p:cNvPr>
          <p:cNvSpPr>
            <a:spLocks noGrp="1"/>
          </p:cNvSpPr>
          <p:nvPr>
            <p:ph idx="1"/>
          </p:nvPr>
        </p:nvSpPr>
        <p:spPr>
          <a:xfrm>
            <a:off x="1273629" y="2302330"/>
            <a:ext cx="9780813" cy="3437698"/>
          </a:xfrm>
        </p:spPr>
        <p:txBody>
          <a:bodyPr numCol="2">
            <a:normAutofit/>
          </a:bodyPr>
          <a:lstStyle/>
          <a:p>
            <a:pPr marL="342900" indent="-342900" fontAlgn="base">
              <a:buFont typeface="+mj-lt"/>
              <a:buAutoNum type="arabicPeriod"/>
            </a:pPr>
            <a:r>
              <a:rPr lang="en-US" sz="2400" dirty="0"/>
              <a:t>What </a:t>
            </a:r>
            <a:r>
              <a:rPr lang="en-US" sz="2400" b="1" dirty="0"/>
              <a:t>ability</a:t>
            </a:r>
            <a:r>
              <a:rPr lang="en-US" sz="2400" dirty="0"/>
              <a:t> do machine learning models have in </a:t>
            </a:r>
            <a:r>
              <a:rPr lang="en-US" sz="2400" b="1" dirty="0"/>
              <a:t>predicting future </a:t>
            </a:r>
            <a:r>
              <a:rPr lang="en-US" sz="2400" dirty="0"/>
              <a:t>(i.e. 2023) county-level measles vaccination immunization coverage rates based on </a:t>
            </a:r>
            <a:r>
              <a:rPr lang="en-US" sz="2400" b="1" dirty="0"/>
              <a:t>available data </a:t>
            </a:r>
            <a:r>
              <a:rPr lang="en-US" sz="2400" dirty="0"/>
              <a:t>from previous years (2000 – 2022)?</a:t>
            </a:r>
          </a:p>
          <a:p>
            <a:pPr marL="342900" indent="-342900" fontAlgn="base">
              <a:buFont typeface="+mj-lt"/>
              <a:buAutoNum type="arabicPeriod"/>
            </a:pPr>
            <a:endParaRPr lang="en-US" sz="2400" dirty="0"/>
          </a:p>
          <a:p>
            <a:pPr marL="342900" indent="-342900" fontAlgn="base">
              <a:buFont typeface="+mj-lt"/>
              <a:buAutoNum type="arabicPeriod"/>
            </a:pPr>
            <a:endParaRPr lang="en-US" sz="2400" dirty="0"/>
          </a:p>
          <a:p>
            <a:pPr marL="0" indent="0" fontAlgn="base">
              <a:buNone/>
            </a:pPr>
            <a:r>
              <a:rPr lang="en-US" sz="2400" b="1" dirty="0"/>
              <a:t>Answer</a:t>
            </a:r>
            <a:r>
              <a:rPr lang="en-US" sz="2400" dirty="0"/>
              <a:t>: </a:t>
            </a:r>
          </a:p>
          <a:p>
            <a:pPr marL="0" indent="0" fontAlgn="base">
              <a:buNone/>
            </a:pPr>
            <a:r>
              <a:rPr lang="en-US" sz="2400" dirty="0"/>
              <a:t>Model prediction performance was weak given the available data. The correlates included did not appear to explain much of the variance in predicted coverage rates.</a:t>
            </a:r>
          </a:p>
          <a:p>
            <a:pPr marL="0" indent="0" fontAlgn="base">
              <a:buNone/>
            </a:pPr>
            <a:endParaRPr lang="en-US" sz="2400" dirty="0"/>
          </a:p>
        </p:txBody>
      </p:sp>
    </p:spTree>
    <p:extLst>
      <p:ext uri="{BB962C8B-B14F-4D97-AF65-F5344CB8AC3E}">
        <p14:creationId xmlns:p14="http://schemas.microsoft.com/office/powerpoint/2010/main" val="1892673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D9941-1FEC-5917-45E6-EDFB38A71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0EBA5-C596-57A2-C3B3-ED01DB672D6D}"/>
              </a:ext>
            </a:extLst>
          </p:cNvPr>
          <p:cNvSpPr>
            <a:spLocks noGrp="1"/>
          </p:cNvSpPr>
          <p:nvPr>
            <p:ph type="title"/>
          </p:nvPr>
        </p:nvSpPr>
        <p:spPr>
          <a:xfrm>
            <a:off x="2231136" y="815899"/>
            <a:ext cx="7729728" cy="1174352"/>
          </a:xfrm>
        </p:spPr>
        <p:txBody>
          <a:bodyPr>
            <a:normAutofit/>
          </a:bodyPr>
          <a:lstStyle/>
          <a:p>
            <a:r>
              <a:rPr lang="en-US" dirty="0"/>
              <a:t>CONCLUSIONS</a:t>
            </a:r>
          </a:p>
        </p:txBody>
      </p:sp>
      <p:sp>
        <p:nvSpPr>
          <p:cNvPr id="10" name="Content Placeholder 2">
            <a:extLst>
              <a:ext uri="{FF2B5EF4-FFF2-40B4-BE49-F238E27FC236}">
                <a16:creationId xmlns:a16="http://schemas.microsoft.com/office/drawing/2014/main" id="{E612E054-EA8A-E1F7-30C1-45C8E514EBA0}"/>
              </a:ext>
            </a:extLst>
          </p:cNvPr>
          <p:cNvSpPr txBox="1">
            <a:spLocks/>
          </p:cNvSpPr>
          <p:nvPr/>
        </p:nvSpPr>
        <p:spPr>
          <a:xfrm>
            <a:off x="2231136" y="2547256"/>
            <a:ext cx="7729728" cy="335070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The county-level data that is publicly available doesn’t explain the variation in coverage rates well </a:t>
            </a:r>
          </a:p>
          <a:p>
            <a:r>
              <a:rPr lang="en-US" dirty="0"/>
              <a:t>Even after removing outliers there may be some data quality issues that remain which resulted in unusually low MMR coverage rates for certain county x years</a:t>
            </a:r>
          </a:p>
          <a:p>
            <a:r>
              <a:rPr lang="en-US" dirty="0"/>
              <a:t>Analysis raises further questions about why hepatitis B and polio have opposite associations with MMR coverage</a:t>
            </a:r>
          </a:p>
          <a:p>
            <a:r>
              <a:rPr lang="en-US" dirty="0"/>
              <a:t>Further data enrichment (additional variables </a:t>
            </a:r>
            <a:r>
              <a:rPr lang="en-US"/>
              <a:t>from CHR and </a:t>
            </a:r>
            <a:r>
              <a:rPr lang="en-US" dirty="0"/>
              <a:t>additional years of data) and model tweaking may be need to produce more reliable results</a:t>
            </a:r>
          </a:p>
          <a:p>
            <a:endParaRPr lang="en-US" dirty="0"/>
          </a:p>
        </p:txBody>
      </p:sp>
    </p:spTree>
    <p:extLst>
      <p:ext uri="{BB962C8B-B14F-4D97-AF65-F5344CB8AC3E}">
        <p14:creationId xmlns:p14="http://schemas.microsoft.com/office/powerpoint/2010/main" val="383319232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{D98414E2-7D54-C048-8E52-8A4302178983}tf10001120</Template>
  <TotalTime>6274</TotalTime>
  <Words>1867</Words>
  <Application>Microsoft Macintosh PowerPoint</Application>
  <PresentationFormat>Widescreen</PresentationFormat>
  <Paragraphs>213</Paragraphs>
  <Slides>24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Gill Sans MT</vt:lpstr>
      <vt:lpstr>Parcel</vt:lpstr>
      <vt:lpstr>Drivers and prediction of anti-measles immunization Rates  in Texas</vt:lpstr>
      <vt:lpstr>Problem</vt:lpstr>
      <vt:lpstr>Problem</vt:lpstr>
      <vt:lpstr>Problem</vt:lpstr>
      <vt:lpstr>Problem</vt:lpstr>
      <vt:lpstr>Questions</vt:lpstr>
      <vt:lpstr>Questions</vt:lpstr>
      <vt:lpstr>Questions</vt:lpstr>
      <vt:lpstr>Data wrangling: data sources</vt:lpstr>
      <vt:lpstr>Data wrangling: EDA</vt:lpstr>
      <vt:lpstr>Correlation among POTENTIAL PREDICTORS</vt:lpstr>
      <vt:lpstr>Data wrangling: imputation</vt:lpstr>
      <vt:lpstr>Modeling: Correlates of coverage</vt:lpstr>
      <vt:lpstr>Modeling: Correlates of coverage</vt:lpstr>
      <vt:lpstr>Modeling: Correlates of coverage</vt:lpstr>
      <vt:lpstr>Modeling: Correlates  of coverage</vt:lpstr>
      <vt:lpstr>MODELING: Correlates of Coverage</vt:lpstr>
      <vt:lpstr>MODELING: Correlates of Coverage</vt:lpstr>
      <vt:lpstr>Modeling: PREDICTING coverage</vt:lpstr>
      <vt:lpstr>MODELING: PREDICTORS OF COVERAGE</vt:lpstr>
      <vt:lpstr>MODELING: PREDICTORS OF COVERAGE</vt:lpstr>
      <vt:lpstr>Questions</vt:lpstr>
      <vt:lpstr>Questions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Grace Awantang</dc:creator>
  <cp:lastModifiedBy>Grace Awantang</cp:lastModifiedBy>
  <cp:revision>2</cp:revision>
  <dcterms:created xsi:type="dcterms:W3CDTF">2025-12-28T17:03:14Z</dcterms:created>
  <dcterms:modified xsi:type="dcterms:W3CDTF">2026-01-02T01:37:43Z</dcterms:modified>
</cp:coreProperties>
</file>